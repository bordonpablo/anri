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y="5143500" cx="9144000"/>
  <p:notesSz cx="6858000" cy="9144000"/>
  <p:embeddedFontLst>
    <p:embeddedFont>
      <p:font typeface="Arial Narrow"/>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ADA2F54-2538-4720-87F2-79A653811C8E}">
  <a:tblStyle styleId="{1ADA2F54-2538-4720-87F2-79A653811C8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font" Target="fonts/ArialNarrow-regular.fntdata"/><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46" Type="http://schemas.openxmlformats.org/officeDocument/2006/relationships/font" Target="fonts/ArialNarrow-italic.fntdata"/><Relationship Id="rId23" Type="http://schemas.openxmlformats.org/officeDocument/2006/relationships/slide" Target="slides/slide17.xml"/><Relationship Id="rId45" Type="http://schemas.openxmlformats.org/officeDocument/2006/relationships/font" Target="fonts/ArialNarrow-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schemas.openxmlformats.org/officeDocument/2006/relationships/font" Target="fonts/ArialNarrow-bold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4db058b1b9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4db058b1b9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4db058b1b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4db058b1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4e4750103e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4e4750103e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4e4750103e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4e4750103e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4e4750103e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4e4750103e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4e4750103e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4e4750103e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4e4750103e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4e4750103e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4e4750103e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4e4750103e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4e4750103e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4e4750103e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4e4750103e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4e4750103e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4e4750103e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4e4750103e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4e4750103e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4e4750103e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4e4750103e_0_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4e4750103e_0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4e4750103e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4e4750103e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4db058b1b9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4db058b1b9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4db058b1b9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4db058b1b9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4e4750103e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4e4750103e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4db058b1b9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4db058b1b9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4db058b1b9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4db058b1b9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4e4750103e_0_6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4e4750103e_0_6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4fc726ef3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4fc726ef3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4fc726ef3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4fc726ef3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4fc726ef31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4fc726ef31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4fc726ef31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4fc726ef31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4fc726ef31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4fc726ef31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4fc726ef31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4fc726ef31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4e4750103e_0_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4e4750103e_0_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4e4750103e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4e4750103e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4e4750103e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4e4750103e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4e4750103e_0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4e4750103e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4e4750103e_0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4e4750103e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4e4750103e_0_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4e4750103e_0_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4e4750103e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4e4750103e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4e4750103e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4e4750103e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4e4750103e_0_6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4e4750103e_0_6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4e4750103e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4e4750103e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4fc29d582d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4fc29d582d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419" sz="1508">
                <a:solidFill>
                  <a:schemeClr val="dk1"/>
                </a:solidFill>
                <a:latin typeface="Arial Narrow"/>
                <a:ea typeface="Arial Narrow"/>
                <a:cs typeface="Arial Narrow"/>
                <a:sym typeface="Arial Narrow"/>
              </a:rPr>
              <a:t>Lecture: </a:t>
            </a: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lecture component of this course will provide an overview of advanced </a:t>
            </a:r>
            <a:r>
              <a:rPr lang="es-419" sz="1508">
                <a:solidFill>
                  <a:schemeClr val="dk1"/>
                </a:solidFill>
                <a:highlight>
                  <a:srgbClr val="FFFF00"/>
                </a:highlight>
                <a:latin typeface="Arial Narrow"/>
                <a:ea typeface="Arial Narrow"/>
                <a:cs typeface="Arial Narrow"/>
                <a:sym typeface="Arial Narrow"/>
              </a:rPr>
              <a:t>geophysical investigation</a:t>
            </a:r>
            <a:r>
              <a:rPr lang="es-419" sz="1508">
                <a:solidFill>
                  <a:schemeClr val="dk1"/>
                </a:solidFill>
                <a:latin typeface="Arial Narrow"/>
                <a:ea typeface="Arial Narrow"/>
                <a:cs typeface="Arial Narrow"/>
                <a:sym typeface="Arial Narrow"/>
              </a:rPr>
              <a:t> methods used in subsurface exploration. It will cover the principles of magnetometry, geoelectrics, ground-penetrating radar (GPR), and electromagnetic methods, along with an introduction to radiometry and its applications in natural resource exploration. Students will learn about data acquisition techniques for both ground and airborne geophysical surveys, and explore the challenges associated with data interpretation. Additionally, the lecture will address typical workflows used in the processing of </a:t>
            </a:r>
            <a:r>
              <a:rPr lang="es-419" sz="1508">
                <a:solidFill>
                  <a:schemeClr val="dk1"/>
                </a:solidFill>
                <a:highlight>
                  <a:srgbClr val="FFFF00"/>
                </a:highlight>
                <a:latin typeface="Arial Narrow"/>
                <a:ea typeface="Arial Narrow"/>
                <a:cs typeface="Arial Narrow"/>
                <a:sym typeface="Arial Narrow"/>
              </a:rPr>
              <a:t>geophysical data</a:t>
            </a:r>
            <a:r>
              <a:rPr lang="es-419" sz="1508">
                <a:solidFill>
                  <a:schemeClr val="dk1"/>
                </a:solidFill>
                <a:latin typeface="Arial Narrow"/>
                <a:ea typeface="Arial Narrow"/>
                <a:cs typeface="Arial Narrow"/>
                <a:sym typeface="Arial Narrow"/>
              </a:rPr>
              <a:t> to ensure accurate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s-419" sz="1508">
                <a:solidFill>
                  <a:schemeClr val="dk1"/>
                </a:solidFill>
                <a:latin typeface="Arial Narrow"/>
                <a:ea typeface="Arial Narrow"/>
                <a:cs typeface="Arial Narrow"/>
                <a:sym typeface="Arial Narrow"/>
              </a:rPr>
              <a:t>Practical training:</a:t>
            </a:r>
            <a:br>
              <a:rPr lang="es-419" sz="1508">
                <a:solidFill>
                  <a:schemeClr val="dk1"/>
                </a:solidFill>
                <a:latin typeface="Arial Narrow"/>
                <a:ea typeface="Arial Narrow"/>
                <a:cs typeface="Arial Narrow"/>
                <a:sym typeface="Arial Narrow"/>
              </a:rPr>
            </a:br>
            <a:br>
              <a:rPr lang="es-419" sz="1508">
                <a:solidFill>
                  <a:schemeClr val="dk1"/>
                </a:solidFill>
                <a:latin typeface="Arial Narrow"/>
                <a:ea typeface="Arial Narrow"/>
                <a:cs typeface="Arial Narrow"/>
                <a:sym typeface="Arial Narrow"/>
              </a:rPr>
            </a:br>
            <a:r>
              <a:rPr lang="es-419" sz="1508">
                <a:solidFill>
                  <a:schemeClr val="dk1"/>
                </a:solidFill>
                <a:latin typeface="Arial Narrow"/>
                <a:ea typeface="Arial Narrow"/>
                <a:cs typeface="Arial Narrow"/>
                <a:sym typeface="Arial Narrow"/>
              </a:rPr>
              <a:t>The practical training component will focus on providing hands-on experience in fieldwork, utilizing magnetometry, GPR, geoelectric, electromagnetic instruments. Students will actively participate in data acquisition and analysis using specialized software. They will gain experience in processing, and learn how to apply these methods effectively in real exploration scenarios. Practical training will also include the development of field reports and presentations based on data collected during field activities, helping students to refine their skills in communicating technical results</a:t>
            </a:r>
            <a:endParaRPr sz="1508">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None/>
            </a:pPr>
            <a:r>
              <a:t/>
            </a:r>
            <a:endParaRPr sz="1508">
              <a:solidFill>
                <a:schemeClr val="dk1"/>
              </a:solidFill>
              <a:latin typeface="Arial Narrow"/>
              <a:ea typeface="Arial Narrow"/>
              <a:cs typeface="Arial Narrow"/>
              <a:sym typeface="Arial Narrow"/>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3.jpg"/><Relationship Id="rId9" Type="http://schemas.openxmlformats.org/officeDocument/2006/relationships/image" Target="../media/image27.jpg"/><Relationship Id="rId5" Type="http://schemas.openxmlformats.org/officeDocument/2006/relationships/image" Target="../media/image2.jpg"/><Relationship Id="rId6" Type="http://schemas.openxmlformats.org/officeDocument/2006/relationships/image" Target="../media/image10.jpg"/><Relationship Id="rId7" Type="http://schemas.openxmlformats.org/officeDocument/2006/relationships/image" Target="../media/image7.jpg"/><Relationship Id="rId8" Type="http://schemas.openxmlformats.org/officeDocument/2006/relationships/image" Target="../media/image1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8.jpg"/><Relationship Id="rId4" Type="http://schemas.openxmlformats.org/officeDocument/2006/relationships/image" Target="../media/image9.png"/><Relationship Id="rId5" Type="http://schemas.openxmlformats.org/officeDocument/2006/relationships/image" Target="../media/image31.jpg"/><Relationship Id="rId6" Type="http://schemas.openxmlformats.org/officeDocument/2006/relationships/image" Target="../media/image37.jpg"/><Relationship Id="rId7" Type="http://schemas.openxmlformats.org/officeDocument/2006/relationships/image" Target="../media/image1.png"/><Relationship Id="rId8"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7.png"/><Relationship Id="rId5" Type="http://schemas.openxmlformats.org/officeDocument/2006/relationships/image" Target="../media/image15.png"/><Relationship Id="rId6" Type="http://schemas.openxmlformats.org/officeDocument/2006/relationships/image" Target="../media/image22.png"/><Relationship Id="rId7"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6.png"/><Relationship Id="rId4" Type="http://schemas.openxmlformats.org/officeDocument/2006/relationships/image" Target="../media/image19.png"/><Relationship Id="rId5" Type="http://schemas.openxmlformats.org/officeDocument/2006/relationships/hyperlink" Target="http://drive.google.com/file/d/1C230sQzl2GTKJPJyZ_D5d7c0VPNxEbPg/view" TargetMode="External"/><Relationship Id="rId6" Type="http://schemas.openxmlformats.org/officeDocument/2006/relationships/image" Target="../media/image1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drive.google.com/file/d/1gMd8HQL63EXUh-fNOWbsoYrnl7Xgcjx0/view" TargetMode="External"/><Relationship Id="rId4" Type="http://schemas.openxmlformats.org/officeDocument/2006/relationships/image" Target="../media/image2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5.png"/><Relationship Id="rId4" Type="http://schemas.openxmlformats.org/officeDocument/2006/relationships/hyperlink" Target="http://drive.google.com/file/d/10JIR1NKZBOxdGXW6tcwqI9IZ-dLHxp8g/view" TargetMode="External"/><Relationship Id="rId5" Type="http://schemas.openxmlformats.org/officeDocument/2006/relationships/image" Target="../media/image3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4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52.png"/><Relationship Id="rId4" Type="http://schemas.openxmlformats.org/officeDocument/2006/relationships/image" Target="../media/image48.png"/><Relationship Id="rId5" Type="http://schemas.openxmlformats.org/officeDocument/2006/relationships/image" Target="../media/image47.png"/><Relationship Id="rId6" Type="http://schemas.openxmlformats.org/officeDocument/2006/relationships/image" Target="../media/image41.png"/><Relationship Id="rId7" Type="http://schemas.openxmlformats.org/officeDocument/2006/relationships/image" Target="../media/image38.png"/><Relationship Id="rId8" Type="http://schemas.openxmlformats.org/officeDocument/2006/relationships/image" Target="../media/image4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drive.google.com/file/d/1sEJ86qsI7Iebxc94CPzK9CVI_7zAhAuW/view" TargetMode="External"/><Relationship Id="rId4" Type="http://schemas.openxmlformats.org/officeDocument/2006/relationships/image" Target="../media/image40.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drive.google.com/file/d/1GwuojjB1DfabG0tGQq96TPJfzm2uW_ZM/view" TargetMode="External"/><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55.png"/><Relationship Id="rId4" Type="http://schemas.openxmlformats.org/officeDocument/2006/relationships/image" Target="../media/image5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45.png"/><Relationship Id="rId4" Type="http://schemas.openxmlformats.org/officeDocument/2006/relationships/image" Target="../media/image5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45.png"/><Relationship Id="rId4" Type="http://schemas.openxmlformats.org/officeDocument/2006/relationships/image" Target="../media/image5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4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56.png"/><Relationship Id="rId4"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Newcastle-Locating-Services-Non-destructive-digging-vac-truck (5).jpg"/>
          <p:cNvPicPr preferRelativeResize="0"/>
          <p:nvPr/>
        </p:nvPicPr>
        <p:blipFill>
          <a:blip r:embed="rId3">
            <a:alphaModFix/>
          </a:blip>
          <a:stretch>
            <a:fillRect/>
          </a:stretch>
        </p:blipFill>
        <p:spPr>
          <a:xfrm>
            <a:off x="351800" y="2995749"/>
            <a:ext cx="3180621" cy="1789099"/>
          </a:xfrm>
          <a:prstGeom prst="rect">
            <a:avLst/>
          </a:prstGeom>
          <a:noFill/>
          <a:ln>
            <a:noFill/>
          </a:ln>
        </p:spPr>
      </p:pic>
      <p:sp>
        <p:nvSpPr>
          <p:cNvPr id="55" name="Google Shape;55;p1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latin typeface="Calibri"/>
                <a:ea typeface="Calibri"/>
                <a:cs typeface="Calibri"/>
                <a:sym typeface="Calibri"/>
              </a:rPr>
              <a:t>Ground Penetrating Radar</a:t>
            </a:r>
            <a:endParaRPr>
              <a:latin typeface="Calibri"/>
              <a:ea typeface="Calibri"/>
              <a:cs typeface="Calibri"/>
              <a:sym typeface="Calibri"/>
            </a:endParaRPr>
          </a:p>
        </p:txBody>
      </p:sp>
      <p:sp>
        <p:nvSpPr>
          <p:cNvPr id="56" name="Google Shape;56;p13"/>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57" name="Google Shape;57;p13"/>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pic>
        <p:nvPicPr>
          <p:cNvPr id="58" name="Google Shape;58;p13" title="40234.jpg"/>
          <p:cNvPicPr preferRelativeResize="0"/>
          <p:nvPr/>
        </p:nvPicPr>
        <p:blipFill>
          <a:blip r:embed="rId4">
            <a:alphaModFix/>
          </a:blip>
          <a:stretch>
            <a:fillRect/>
          </a:stretch>
        </p:blipFill>
        <p:spPr>
          <a:xfrm>
            <a:off x="2772425" y="2962475"/>
            <a:ext cx="2214025" cy="1789100"/>
          </a:xfrm>
          <a:prstGeom prst="rect">
            <a:avLst/>
          </a:prstGeom>
          <a:noFill/>
          <a:ln>
            <a:noFill/>
          </a:ln>
        </p:spPr>
      </p:pic>
      <p:pic>
        <p:nvPicPr>
          <p:cNvPr id="59" name="Google Shape;59;p13" title="GPR-SH-resource_641_482_80auto.jpg"/>
          <p:cNvPicPr preferRelativeResize="0"/>
          <p:nvPr/>
        </p:nvPicPr>
        <p:blipFill>
          <a:blip r:embed="rId5">
            <a:alphaModFix/>
          </a:blip>
          <a:stretch>
            <a:fillRect/>
          </a:stretch>
        </p:blipFill>
        <p:spPr>
          <a:xfrm>
            <a:off x="351788" y="1045975"/>
            <a:ext cx="2388090" cy="1795725"/>
          </a:xfrm>
          <a:prstGeom prst="rect">
            <a:avLst/>
          </a:prstGeom>
          <a:noFill/>
          <a:ln>
            <a:noFill/>
          </a:ln>
        </p:spPr>
      </p:pic>
      <p:pic>
        <p:nvPicPr>
          <p:cNvPr id="60" name="Google Shape;60;p13" title="mb_georadar_tauber-023.jpg"/>
          <p:cNvPicPr preferRelativeResize="0"/>
          <p:nvPr/>
        </p:nvPicPr>
        <p:blipFill>
          <a:blip r:embed="rId6">
            <a:alphaModFix/>
          </a:blip>
          <a:stretch>
            <a:fillRect/>
          </a:stretch>
        </p:blipFill>
        <p:spPr>
          <a:xfrm>
            <a:off x="5763750" y="810700"/>
            <a:ext cx="2934175" cy="2151775"/>
          </a:xfrm>
          <a:prstGeom prst="rect">
            <a:avLst/>
          </a:prstGeom>
          <a:noFill/>
          <a:ln>
            <a:noFill/>
          </a:ln>
        </p:spPr>
      </p:pic>
      <p:pic>
        <p:nvPicPr>
          <p:cNvPr id="61" name="Google Shape;61;p13" title="images (1).jpg"/>
          <p:cNvPicPr preferRelativeResize="0"/>
          <p:nvPr/>
        </p:nvPicPr>
        <p:blipFill>
          <a:blip r:embed="rId7">
            <a:alphaModFix/>
          </a:blip>
          <a:stretch>
            <a:fillRect/>
          </a:stretch>
        </p:blipFill>
        <p:spPr>
          <a:xfrm>
            <a:off x="2921250" y="1152550"/>
            <a:ext cx="2519000" cy="1516625"/>
          </a:xfrm>
          <a:prstGeom prst="rect">
            <a:avLst/>
          </a:prstGeom>
          <a:noFill/>
          <a:ln>
            <a:noFill/>
          </a:ln>
        </p:spPr>
      </p:pic>
      <p:pic>
        <p:nvPicPr>
          <p:cNvPr id="62" name="Google Shape;62;p13" title="Field-GPR.jpg"/>
          <p:cNvPicPr preferRelativeResize="0"/>
          <p:nvPr/>
        </p:nvPicPr>
        <p:blipFill>
          <a:blip r:embed="rId8">
            <a:alphaModFix/>
          </a:blip>
          <a:stretch>
            <a:fillRect/>
          </a:stretch>
        </p:blipFill>
        <p:spPr>
          <a:xfrm>
            <a:off x="5121300" y="3181050"/>
            <a:ext cx="1935599" cy="1268075"/>
          </a:xfrm>
          <a:prstGeom prst="rect">
            <a:avLst/>
          </a:prstGeom>
          <a:noFill/>
          <a:ln>
            <a:noFill/>
          </a:ln>
        </p:spPr>
      </p:pic>
      <p:pic>
        <p:nvPicPr>
          <p:cNvPr id="63" name="Google Shape;63;p13" title="900x0_s3-59705-MNSW-PAV-GSSI-RADAR-2.jpg"/>
          <p:cNvPicPr preferRelativeResize="0"/>
          <p:nvPr/>
        </p:nvPicPr>
        <p:blipFill>
          <a:blip r:embed="rId9">
            <a:alphaModFix/>
          </a:blip>
          <a:stretch>
            <a:fillRect/>
          </a:stretch>
        </p:blipFill>
        <p:spPr>
          <a:xfrm>
            <a:off x="7124050" y="2995750"/>
            <a:ext cx="1789101" cy="17891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pic>
        <p:nvPicPr>
          <p:cNvPr id="68" name="Google Shape;68;p14" title="20240906_133737.jpg"/>
          <p:cNvPicPr preferRelativeResize="0"/>
          <p:nvPr/>
        </p:nvPicPr>
        <p:blipFill>
          <a:blip r:embed="rId3">
            <a:alphaModFix/>
          </a:blip>
          <a:stretch>
            <a:fillRect/>
          </a:stretch>
        </p:blipFill>
        <p:spPr>
          <a:xfrm>
            <a:off x="3243800" y="462559"/>
            <a:ext cx="5080376" cy="2860192"/>
          </a:xfrm>
          <a:prstGeom prst="rect">
            <a:avLst/>
          </a:prstGeom>
          <a:noFill/>
          <a:ln>
            <a:noFill/>
          </a:ln>
        </p:spPr>
      </p:pic>
      <p:pic>
        <p:nvPicPr>
          <p:cNvPr id="69" name="Google Shape;69;p14" title="Captura de pantalla 2025-04-23 091412.png"/>
          <p:cNvPicPr preferRelativeResize="0"/>
          <p:nvPr/>
        </p:nvPicPr>
        <p:blipFill>
          <a:blip r:embed="rId4">
            <a:alphaModFix/>
          </a:blip>
          <a:stretch>
            <a:fillRect/>
          </a:stretch>
        </p:blipFill>
        <p:spPr>
          <a:xfrm>
            <a:off x="401847" y="2571738"/>
            <a:ext cx="2689549" cy="2237425"/>
          </a:xfrm>
          <a:prstGeom prst="rect">
            <a:avLst/>
          </a:prstGeom>
          <a:noFill/>
          <a:ln>
            <a:noFill/>
          </a:ln>
        </p:spPr>
      </p:pic>
      <p:sp>
        <p:nvSpPr>
          <p:cNvPr id="70" name="Google Shape;7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latin typeface="Calibri"/>
                <a:ea typeface="Calibri"/>
                <a:cs typeface="Calibri"/>
                <a:sym typeface="Calibri"/>
              </a:rPr>
              <a:t>Our equipment :)</a:t>
            </a:r>
            <a:endParaRPr>
              <a:latin typeface="Calibri"/>
              <a:ea typeface="Calibri"/>
              <a:cs typeface="Calibri"/>
              <a:sym typeface="Calibri"/>
            </a:endParaRPr>
          </a:p>
        </p:txBody>
      </p:sp>
      <p:sp>
        <p:nvSpPr>
          <p:cNvPr id="71" name="Google Shape;71;p14"/>
          <p:cNvSpPr txBox="1"/>
          <p:nvPr>
            <p:ph idx="1" type="body"/>
          </p:nvPr>
        </p:nvSpPr>
        <p:spPr>
          <a:xfrm>
            <a:off x="311700" y="1017725"/>
            <a:ext cx="2689500" cy="26268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419" sz="800">
                <a:solidFill>
                  <a:schemeClr val="dk1"/>
                </a:solidFill>
                <a:latin typeface="Calibri"/>
                <a:ea typeface="Calibri"/>
                <a:cs typeface="Calibri"/>
                <a:sym typeface="Calibri"/>
              </a:rPr>
              <a:t>IDS Georadar: The Radar System RIS MF Hi Mod 1A consists mainly of four components: </a:t>
            </a:r>
            <a:endParaRPr sz="800">
              <a:solidFill>
                <a:schemeClr val="dk1"/>
              </a:solidFill>
              <a:latin typeface="Calibri"/>
              <a:ea typeface="Calibri"/>
              <a:cs typeface="Calibri"/>
              <a:sym typeface="Calibri"/>
            </a:endParaRPr>
          </a:p>
          <a:p>
            <a:pPr indent="0" lvl="0" marL="0" rtl="0" algn="l">
              <a:spcBef>
                <a:spcPts val="1200"/>
              </a:spcBef>
              <a:spcAft>
                <a:spcPts val="0"/>
              </a:spcAft>
              <a:buClr>
                <a:schemeClr val="dk1"/>
              </a:buClr>
              <a:buSzPts val="1100"/>
              <a:buFont typeface="Arial"/>
              <a:buNone/>
            </a:pPr>
            <a:r>
              <a:rPr lang="es-419" sz="800">
                <a:solidFill>
                  <a:schemeClr val="dk1"/>
                </a:solidFill>
                <a:latin typeface="Calibri"/>
                <a:ea typeface="Calibri"/>
                <a:cs typeface="Calibri"/>
                <a:sym typeface="Calibri"/>
              </a:rPr>
              <a:t>Antenna 200 &amp; 600 MHz </a:t>
            </a:r>
            <a:endParaRPr sz="800">
              <a:solidFill>
                <a:schemeClr val="dk1"/>
              </a:solidFill>
              <a:latin typeface="Calibri"/>
              <a:ea typeface="Calibri"/>
              <a:cs typeface="Calibri"/>
              <a:sym typeface="Calibri"/>
            </a:endParaRPr>
          </a:p>
          <a:p>
            <a:pPr indent="0" lvl="0" marL="0" rtl="0" algn="l">
              <a:spcBef>
                <a:spcPts val="1200"/>
              </a:spcBef>
              <a:spcAft>
                <a:spcPts val="0"/>
              </a:spcAft>
              <a:buClr>
                <a:schemeClr val="dk1"/>
              </a:buClr>
              <a:buSzPts val="1100"/>
              <a:buFont typeface="Arial"/>
              <a:buNone/>
            </a:pPr>
            <a:r>
              <a:rPr lang="es-419" sz="800">
                <a:solidFill>
                  <a:schemeClr val="dk1"/>
                </a:solidFill>
                <a:latin typeface="Calibri"/>
                <a:ea typeface="Calibri"/>
                <a:cs typeface="Calibri"/>
                <a:sym typeface="Calibri"/>
              </a:rPr>
              <a:t>DAD control unit</a:t>
            </a:r>
            <a:endParaRPr sz="800">
              <a:solidFill>
                <a:schemeClr val="dk1"/>
              </a:solidFill>
              <a:latin typeface="Calibri"/>
              <a:ea typeface="Calibri"/>
              <a:cs typeface="Calibri"/>
              <a:sym typeface="Calibri"/>
            </a:endParaRPr>
          </a:p>
          <a:p>
            <a:pPr indent="0" lvl="0" marL="0" rtl="0" algn="l">
              <a:spcBef>
                <a:spcPts val="1200"/>
              </a:spcBef>
              <a:spcAft>
                <a:spcPts val="0"/>
              </a:spcAft>
              <a:buClr>
                <a:schemeClr val="dk1"/>
              </a:buClr>
              <a:buSzPts val="1100"/>
              <a:buFont typeface="Arial"/>
              <a:buNone/>
            </a:pPr>
            <a:r>
              <a:rPr lang="es-419" sz="800">
                <a:solidFill>
                  <a:schemeClr val="dk1"/>
                </a:solidFill>
                <a:latin typeface="Calibri"/>
                <a:ea typeface="Calibri"/>
                <a:cs typeface="Calibri"/>
                <a:sym typeface="Calibri"/>
              </a:rPr>
              <a:t>Two batteries</a:t>
            </a:r>
            <a:endParaRPr sz="800">
              <a:solidFill>
                <a:schemeClr val="dk1"/>
              </a:solidFill>
              <a:latin typeface="Calibri"/>
              <a:ea typeface="Calibri"/>
              <a:cs typeface="Calibri"/>
              <a:sym typeface="Calibri"/>
            </a:endParaRPr>
          </a:p>
          <a:p>
            <a:pPr indent="0" lvl="0" marL="0" rtl="0" algn="l">
              <a:spcBef>
                <a:spcPts val="1200"/>
              </a:spcBef>
              <a:spcAft>
                <a:spcPts val="0"/>
              </a:spcAft>
              <a:buClr>
                <a:schemeClr val="dk1"/>
              </a:buClr>
              <a:buSzPts val="1100"/>
              <a:buFont typeface="Arial"/>
              <a:buNone/>
            </a:pPr>
            <a:r>
              <a:rPr lang="es-419" sz="800">
                <a:solidFill>
                  <a:schemeClr val="dk1"/>
                </a:solidFill>
                <a:latin typeface="Calibri"/>
                <a:ea typeface="Calibri"/>
                <a:cs typeface="Calibri"/>
                <a:sym typeface="Calibri"/>
              </a:rPr>
              <a:t>Laptop Panasonic CF -31</a:t>
            </a:r>
            <a:endParaRPr sz="2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457200" rtl="0" algn="l">
              <a:spcBef>
                <a:spcPts val="1200"/>
              </a:spcBef>
              <a:spcAft>
                <a:spcPts val="0"/>
              </a:spcAft>
              <a:buNone/>
            </a:pPr>
            <a:r>
              <a:rPr lang="es-419"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highlight>
                <a:schemeClr val="lt1"/>
              </a:highlight>
              <a:latin typeface="Calibri"/>
              <a:ea typeface="Calibri"/>
              <a:cs typeface="Calibri"/>
              <a:sym typeface="Calibri"/>
            </a:endParaRPr>
          </a:p>
          <a:p>
            <a:pPr indent="0" lvl="0" marL="457200" rtl="0" algn="l">
              <a:spcBef>
                <a:spcPts val="1200"/>
              </a:spcBef>
              <a:spcAft>
                <a:spcPts val="1200"/>
              </a:spcAft>
              <a:buNone/>
            </a:pPr>
            <a:r>
              <a:t/>
            </a:r>
            <a:endParaRPr sz="800">
              <a:solidFill>
                <a:schemeClr val="dk1"/>
              </a:solidFill>
              <a:latin typeface="Calibri"/>
              <a:ea typeface="Calibri"/>
              <a:cs typeface="Calibri"/>
              <a:sym typeface="Calibri"/>
            </a:endParaRPr>
          </a:p>
        </p:txBody>
      </p:sp>
      <p:sp>
        <p:nvSpPr>
          <p:cNvPr id="72" name="Google Shape;72;p14"/>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73" name="Google Shape;73;p14"/>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pic>
        <p:nvPicPr>
          <p:cNvPr id="74" name="Google Shape;74;p14"/>
          <p:cNvPicPr preferRelativeResize="0"/>
          <p:nvPr/>
        </p:nvPicPr>
        <p:blipFill>
          <a:blip r:embed="rId5">
            <a:alphaModFix/>
          </a:blip>
          <a:stretch>
            <a:fillRect/>
          </a:stretch>
        </p:blipFill>
        <p:spPr>
          <a:xfrm>
            <a:off x="3557600" y="3571619"/>
            <a:ext cx="973800" cy="1290621"/>
          </a:xfrm>
          <a:prstGeom prst="rect">
            <a:avLst/>
          </a:prstGeom>
          <a:noFill/>
          <a:ln>
            <a:noFill/>
          </a:ln>
        </p:spPr>
      </p:pic>
      <p:pic>
        <p:nvPicPr>
          <p:cNvPr id="75" name="Google Shape;75;p14"/>
          <p:cNvPicPr preferRelativeResize="0"/>
          <p:nvPr/>
        </p:nvPicPr>
        <p:blipFill>
          <a:blip r:embed="rId6">
            <a:alphaModFix/>
          </a:blip>
          <a:stretch>
            <a:fillRect/>
          </a:stretch>
        </p:blipFill>
        <p:spPr>
          <a:xfrm>
            <a:off x="6878601" y="1368548"/>
            <a:ext cx="1445575" cy="1925150"/>
          </a:xfrm>
          <a:prstGeom prst="rect">
            <a:avLst/>
          </a:prstGeom>
          <a:noFill/>
          <a:ln>
            <a:noFill/>
          </a:ln>
        </p:spPr>
      </p:pic>
      <p:pic>
        <p:nvPicPr>
          <p:cNvPr id="76" name="Google Shape;76;p14"/>
          <p:cNvPicPr preferRelativeResize="0"/>
          <p:nvPr/>
        </p:nvPicPr>
        <p:blipFill>
          <a:blip r:embed="rId7">
            <a:alphaModFix/>
          </a:blip>
          <a:stretch>
            <a:fillRect/>
          </a:stretch>
        </p:blipFill>
        <p:spPr>
          <a:xfrm>
            <a:off x="7008838" y="3724463"/>
            <a:ext cx="1315325" cy="903825"/>
          </a:xfrm>
          <a:prstGeom prst="rect">
            <a:avLst/>
          </a:prstGeom>
          <a:noFill/>
          <a:ln>
            <a:noFill/>
          </a:ln>
        </p:spPr>
      </p:pic>
      <p:pic>
        <p:nvPicPr>
          <p:cNvPr id="77" name="Google Shape;77;p14"/>
          <p:cNvPicPr preferRelativeResize="0"/>
          <p:nvPr/>
        </p:nvPicPr>
        <p:blipFill>
          <a:blip r:embed="rId8">
            <a:alphaModFix/>
          </a:blip>
          <a:stretch>
            <a:fillRect/>
          </a:stretch>
        </p:blipFill>
        <p:spPr>
          <a:xfrm>
            <a:off x="4877713" y="3611738"/>
            <a:ext cx="1607825" cy="12103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latin typeface="Calibri"/>
                <a:ea typeface="Calibri"/>
                <a:cs typeface="Calibri"/>
                <a:sym typeface="Calibri"/>
              </a:rPr>
              <a:t>Survey and analysis</a:t>
            </a:r>
            <a:endParaRPr>
              <a:latin typeface="Calibri"/>
              <a:ea typeface="Calibri"/>
              <a:cs typeface="Calibri"/>
              <a:sym typeface="Calibri"/>
            </a:endParaRPr>
          </a:p>
        </p:txBody>
      </p:sp>
      <p:sp>
        <p:nvSpPr>
          <p:cNvPr id="83" name="Google Shape;83;p15"/>
          <p:cNvSpPr txBox="1"/>
          <p:nvPr>
            <p:ph idx="1" type="body"/>
          </p:nvPr>
        </p:nvSpPr>
        <p:spPr>
          <a:xfrm>
            <a:off x="4454700" y="1377163"/>
            <a:ext cx="4377600" cy="3357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Calibri"/>
              <a:buChar char="●"/>
            </a:pPr>
            <a:r>
              <a:rPr lang="es-419" sz="1400">
                <a:solidFill>
                  <a:schemeClr val="dk1"/>
                </a:solidFill>
                <a:latin typeface="Calibri"/>
                <a:ea typeface="Calibri"/>
                <a:cs typeface="Calibri"/>
                <a:sym typeface="Calibri"/>
              </a:rPr>
              <a:t>GPR uses high frequency radio waves and transmits into the ground.</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457200" rtl="0" algn="l">
              <a:spcBef>
                <a:spcPts val="1200"/>
              </a:spcBef>
              <a:spcAft>
                <a:spcPts val="0"/>
              </a:spcAft>
              <a:buNone/>
            </a:pPr>
            <a:r>
              <a:rPr lang="es-419"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highlight>
                <a:schemeClr val="lt1"/>
              </a:highlight>
              <a:latin typeface="Calibri"/>
              <a:ea typeface="Calibri"/>
              <a:cs typeface="Calibri"/>
              <a:sym typeface="Calibri"/>
            </a:endParaRPr>
          </a:p>
          <a:p>
            <a:pPr indent="0" lvl="0" marL="457200" rtl="0" algn="l">
              <a:spcBef>
                <a:spcPts val="1200"/>
              </a:spcBef>
              <a:spcAft>
                <a:spcPts val="1200"/>
              </a:spcAft>
              <a:buNone/>
            </a:pPr>
            <a:r>
              <a:t/>
            </a:r>
            <a:endParaRPr sz="1200">
              <a:solidFill>
                <a:schemeClr val="dk1"/>
              </a:solidFill>
              <a:latin typeface="Calibri"/>
              <a:ea typeface="Calibri"/>
              <a:cs typeface="Calibri"/>
              <a:sym typeface="Calibri"/>
            </a:endParaRPr>
          </a:p>
        </p:txBody>
      </p:sp>
      <p:sp>
        <p:nvSpPr>
          <p:cNvPr id="84" name="Google Shape;84;p15"/>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85" name="Google Shape;85;p15"/>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pic>
        <p:nvPicPr>
          <p:cNvPr id="86" name="Google Shape;86;p15" title="Captura de pantalla 2025-04-23 105700.png"/>
          <p:cNvPicPr preferRelativeResize="0"/>
          <p:nvPr/>
        </p:nvPicPr>
        <p:blipFill>
          <a:blip r:embed="rId3">
            <a:alphaModFix/>
          </a:blip>
          <a:stretch>
            <a:fillRect/>
          </a:stretch>
        </p:blipFill>
        <p:spPr>
          <a:xfrm>
            <a:off x="396025" y="1221862"/>
            <a:ext cx="3544150" cy="35129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latin typeface="Calibri"/>
                <a:ea typeface="Calibri"/>
                <a:cs typeface="Calibri"/>
                <a:sym typeface="Calibri"/>
              </a:rPr>
              <a:t>Survey and analysis</a:t>
            </a:r>
            <a:endParaRPr>
              <a:latin typeface="Calibri"/>
              <a:ea typeface="Calibri"/>
              <a:cs typeface="Calibri"/>
              <a:sym typeface="Calibri"/>
            </a:endParaRPr>
          </a:p>
        </p:txBody>
      </p:sp>
      <p:sp>
        <p:nvSpPr>
          <p:cNvPr id="92" name="Google Shape;92;p16"/>
          <p:cNvSpPr txBox="1"/>
          <p:nvPr>
            <p:ph idx="1" type="body"/>
          </p:nvPr>
        </p:nvSpPr>
        <p:spPr>
          <a:xfrm>
            <a:off x="4454700" y="1377163"/>
            <a:ext cx="4377600" cy="3357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Calibri"/>
              <a:buChar char="●"/>
            </a:pPr>
            <a:r>
              <a:rPr lang="es-419" sz="1400">
                <a:solidFill>
                  <a:schemeClr val="dk1"/>
                </a:solidFill>
                <a:latin typeface="Calibri"/>
                <a:ea typeface="Calibri"/>
                <a:cs typeface="Calibri"/>
                <a:sym typeface="Calibri"/>
              </a:rPr>
              <a:t>GPR uses high frequency radio waves and transmits into the ground.</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457200" lvl="0" marL="914400" rtl="0" algn="l">
              <a:spcBef>
                <a:spcPts val="1200"/>
              </a:spcBef>
              <a:spcAft>
                <a:spcPts val="0"/>
              </a:spcAft>
              <a:buNone/>
            </a:pPr>
            <a:r>
              <a:rPr lang="es-419" sz="1200">
                <a:solidFill>
                  <a:schemeClr val="dk1"/>
                </a:solidFill>
                <a:latin typeface="Calibri"/>
                <a:ea typeface="Calibri"/>
                <a:cs typeface="Calibri"/>
                <a:sym typeface="Calibri"/>
              </a:rPr>
              <a:t>Electromagnetic spectrum</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457200" rtl="0" algn="l">
              <a:spcBef>
                <a:spcPts val="1200"/>
              </a:spcBef>
              <a:spcAft>
                <a:spcPts val="0"/>
              </a:spcAft>
              <a:buNone/>
            </a:pPr>
            <a:r>
              <a:rPr lang="es-419"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highlight>
                <a:schemeClr val="lt1"/>
              </a:highlight>
              <a:latin typeface="Calibri"/>
              <a:ea typeface="Calibri"/>
              <a:cs typeface="Calibri"/>
              <a:sym typeface="Calibri"/>
            </a:endParaRPr>
          </a:p>
          <a:p>
            <a:pPr indent="0" lvl="0" marL="457200" rtl="0" algn="l">
              <a:spcBef>
                <a:spcPts val="1200"/>
              </a:spcBef>
              <a:spcAft>
                <a:spcPts val="1200"/>
              </a:spcAft>
              <a:buNone/>
            </a:pPr>
            <a:r>
              <a:t/>
            </a:r>
            <a:endParaRPr sz="1200">
              <a:solidFill>
                <a:schemeClr val="dk1"/>
              </a:solidFill>
              <a:latin typeface="Calibri"/>
              <a:ea typeface="Calibri"/>
              <a:cs typeface="Calibri"/>
              <a:sym typeface="Calibri"/>
            </a:endParaRPr>
          </a:p>
        </p:txBody>
      </p:sp>
      <p:sp>
        <p:nvSpPr>
          <p:cNvPr id="93" name="Google Shape;93;p16"/>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94" name="Google Shape;94;p16"/>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pic>
        <p:nvPicPr>
          <p:cNvPr id="95" name="Google Shape;95;p16" title="Captura de pantalla 2025-04-23 105700.png"/>
          <p:cNvPicPr preferRelativeResize="0"/>
          <p:nvPr/>
        </p:nvPicPr>
        <p:blipFill>
          <a:blip r:embed="rId3">
            <a:alphaModFix/>
          </a:blip>
          <a:stretch>
            <a:fillRect/>
          </a:stretch>
        </p:blipFill>
        <p:spPr>
          <a:xfrm>
            <a:off x="396025" y="1221862"/>
            <a:ext cx="3544150" cy="3512900"/>
          </a:xfrm>
          <a:prstGeom prst="rect">
            <a:avLst/>
          </a:prstGeom>
          <a:noFill/>
          <a:ln>
            <a:noFill/>
          </a:ln>
        </p:spPr>
      </p:pic>
      <p:pic>
        <p:nvPicPr>
          <p:cNvPr id="96" name="Google Shape;96;p16" title="Captura de pantalla 2025-04-22 140749.png"/>
          <p:cNvPicPr preferRelativeResize="0"/>
          <p:nvPr/>
        </p:nvPicPr>
        <p:blipFill>
          <a:blip r:embed="rId4">
            <a:alphaModFix/>
          </a:blip>
          <a:stretch>
            <a:fillRect/>
          </a:stretch>
        </p:blipFill>
        <p:spPr>
          <a:xfrm>
            <a:off x="4744600" y="2788225"/>
            <a:ext cx="3972650" cy="17222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latin typeface="Calibri"/>
                <a:ea typeface="Calibri"/>
                <a:cs typeface="Calibri"/>
                <a:sym typeface="Calibri"/>
              </a:rPr>
              <a:t>Survey and analysis</a:t>
            </a:r>
            <a:endParaRPr>
              <a:latin typeface="Calibri"/>
              <a:ea typeface="Calibri"/>
              <a:cs typeface="Calibri"/>
              <a:sym typeface="Calibri"/>
            </a:endParaRPr>
          </a:p>
        </p:txBody>
      </p:sp>
      <p:sp>
        <p:nvSpPr>
          <p:cNvPr id="102" name="Google Shape;102;p17"/>
          <p:cNvSpPr txBox="1"/>
          <p:nvPr>
            <p:ph idx="1" type="body"/>
          </p:nvPr>
        </p:nvSpPr>
        <p:spPr>
          <a:xfrm>
            <a:off x="4454700" y="1377163"/>
            <a:ext cx="4377600" cy="3357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Calibri"/>
              <a:buChar char="●"/>
            </a:pPr>
            <a:r>
              <a:rPr lang="es-419" sz="1400">
                <a:solidFill>
                  <a:schemeClr val="dk1"/>
                </a:solidFill>
                <a:latin typeface="Calibri"/>
                <a:ea typeface="Calibri"/>
                <a:cs typeface="Calibri"/>
                <a:sym typeface="Calibri"/>
              </a:rPr>
              <a:t>GPR uses high frequency radio waves and transmits into the ground.</a:t>
            </a:r>
            <a:endParaRPr sz="1400">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s-419" sz="1400">
                <a:solidFill>
                  <a:schemeClr val="dk1"/>
                </a:solidFill>
                <a:latin typeface="Calibri"/>
                <a:ea typeface="Calibri"/>
                <a:cs typeface="Calibri"/>
                <a:sym typeface="Calibri"/>
              </a:rPr>
              <a:t>When the wave hits a buried object or a boundary with different </a:t>
            </a:r>
            <a:r>
              <a:rPr b="1" lang="es-419" sz="1400">
                <a:solidFill>
                  <a:schemeClr val="dk1"/>
                </a:solidFill>
                <a:latin typeface="Calibri"/>
                <a:ea typeface="Calibri"/>
                <a:cs typeface="Calibri"/>
                <a:sym typeface="Calibri"/>
              </a:rPr>
              <a:t>dielectric constant,</a:t>
            </a:r>
            <a:r>
              <a:rPr lang="es-419" sz="1400">
                <a:solidFill>
                  <a:schemeClr val="dk1"/>
                </a:solidFill>
                <a:latin typeface="Calibri"/>
                <a:ea typeface="Calibri"/>
                <a:cs typeface="Calibri"/>
                <a:sym typeface="Calibri"/>
              </a:rPr>
              <a:t> the receiving antenna records variations in the reflected return signal.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457200" rtl="0" algn="l">
              <a:spcBef>
                <a:spcPts val="1200"/>
              </a:spcBef>
              <a:spcAft>
                <a:spcPts val="0"/>
              </a:spcAft>
              <a:buNone/>
            </a:pPr>
            <a:r>
              <a:rPr lang="es-419"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highlight>
                <a:schemeClr val="lt1"/>
              </a:highlight>
              <a:latin typeface="Calibri"/>
              <a:ea typeface="Calibri"/>
              <a:cs typeface="Calibri"/>
              <a:sym typeface="Calibri"/>
            </a:endParaRPr>
          </a:p>
          <a:p>
            <a:pPr indent="0" lvl="0" marL="457200" rtl="0" algn="l">
              <a:spcBef>
                <a:spcPts val="1200"/>
              </a:spcBef>
              <a:spcAft>
                <a:spcPts val="1200"/>
              </a:spcAft>
              <a:buNone/>
            </a:pPr>
            <a:r>
              <a:t/>
            </a:r>
            <a:endParaRPr sz="1200">
              <a:solidFill>
                <a:schemeClr val="dk1"/>
              </a:solidFill>
              <a:latin typeface="Calibri"/>
              <a:ea typeface="Calibri"/>
              <a:cs typeface="Calibri"/>
              <a:sym typeface="Calibri"/>
            </a:endParaRPr>
          </a:p>
        </p:txBody>
      </p:sp>
      <p:sp>
        <p:nvSpPr>
          <p:cNvPr id="103" name="Google Shape;103;p17"/>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104" name="Google Shape;104;p17"/>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pic>
        <p:nvPicPr>
          <p:cNvPr id="105" name="Google Shape;105;p17" title="Captura de pantalla 2025-04-23 105700.png"/>
          <p:cNvPicPr preferRelativeResize="0"/>
          <p:nvPr/>
        </p:nvPicPr>
        <p:blipFill>
          <a:blip r:embed="rId3">
            <a:alphaModFix/>
          </a:blip>
          <a:stretch>
            <a:fillRect/>
          </a:stretch>
        </p:blipFill>
        <p:spPr>
          <a:xfrm>
            <a:off x="396025" y="1221862"/>
            <a:ext cx="3544150" cy="3512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latin typeface="Calibri"/>
                <a:ea typeface="Calibri"/>
                <a:cs typeface="Calibri"/>
                <a:sym typeface="Calibri"/>
              </a:rPr>
              <a:t>Survey and analysis</a:t>
            </a:r>
            <a:endParaRPr>
              <a:latin typeface="Calibri"/>
              <a:ea typeface="Calibri"/>
              <a:cs typeface="Calibri"/>
              <a:sym typeface="Calibri"/>
            </a:endParaRPr>
          </a:p>
        </p:txBody>
      </p:sp>
      <p:sp>
        <p:nvSpPr>
          <p:cNvPr id="111" name="Google Shape;111;p18"/>
          <p:cNvSpPr txBox="1"/>
          <p:nvPr>
            <p:ph idx="1" type="body"/>
          </p:nvPr>
        </p:nvSpPr>
        <p:spPr>
          <a:xfrm>
            <a:off x="4454700" y="1377163"/>
            <a:ext cx="4377600" cy="3357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Calibri"/>
              <a:buChar char="●"/>
            </a:pPr>
            <a:r>
              <a:rPr lang="es-419" sz="1400">
                <a:solidFill>
                  <a:schemeClr val="dk1"/>
                </a:solidFill>
                <a:latin typeface="Calibri"/>
                <a:ea typeface="Calibri"/>
                <a:cs typeface="Calibri"/>
                <a:sym typeface="Calibri"/>
              </a:rPr>
              <a:t>GPR uses high frequency radio waves and transmits into the ground.</a:t>
            </a:r>
            <a:endParaRPr sz="1400">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s-419" sz="1400">
                <a:solidFill>
                  <a:schemeClr val="dk1"/>
                </a:solidFill>
                <a:latin typeface="Calibri"/>
                <a:ea typeface="Calibri"/>
                <a:cs typeface="Calibri"/>
                <a:sym typeface="Calibri"/>
              </a:rPr>
              <a:t>When the wave hits a buried object or a boundary with different </a:t>
            </a:r>
            <a:r>
              <a:rPr b="1" lang="es-419" sz="1400">
                <a:solidFill>
                  <a:schemeClr val="dk1"/>
                </a:solidFill>
                <a:latin typeface="Calibri"/>
                <a:ea typeface="Calibri"/>
                <a:cs typeface="Calibri"/>
                <a:sym typeface="Calibri"/>
              </a:rPr>
              <a:t>dielectric constant,</a:t>
            </a:r>
            <a:r>
              <a:rPr lang="es-419" sz="1400">
                <a:solidFill>
                  <a:schemeClr val="dk1"/>
                </a:solidFill>
                <a:latin typeface="Calibri"/>
                <a:ea typeface="Calibri"/>
                <a:cs typeface="Calibri"/>
                <a:sym typeface="Calibri"/>
              </a:rPr>
              <a:t> the receiving antenna records variations in the reflected return signal. </a:t>
            </a:r>
            <a:endParaRPr sz="1400">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b="1" lang="es-419" sz="1400">
                <a:solidFill>
                  <a:srgbClr val="4A86E8"/>
                </a:solidFill>
                <a:latin typeface="Calibri"/>
                <a:ea typeface="Calibri"/>
                <a:cs typeface="Calibri"/>
                <a:sym typeface="Calibri"/>
              </a:rPr>
              <a:t>Electrical conductivity:</a:t>
            </a:r>
            <a:r>
              <a:rPr lang="es-419" sz="1400">
                <a:solidFill>
                  <a:schemeClr val="dk1"/>
                </a:solidFill>
                <a:latin typeface="Calibri"/>
                <a:ea typeface="Calibri"/>
                <a:cs typeface="Calibri"/>
                <a:sym typeface="Calibri"/>
              </a:rPr>
              <a:t> is the ability of a material to support an electrical current due to an applied electrical field. (sigma)</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457200" rtl="0" algn="l">
              <a:spcBef>
                <a:spcPts val="1200"/>
              </a:spcBef>
              <a:spcAft>
                <a:spcPts val="0"/>
              </a:spcAft>
              <a:buNone/>
            </a:pPr>
            <a:r>
              <a:rPr lang="es-419"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highlight>
                <a:schemeClr val="lt1"/>
              </a:highlight>
              <a:latin typeface="Calibri"/>
              <a:ea typeface="Calibri"/>
              <a:cs typeface="Calibri"/>
              <a:sym typeface="Calibri"/>
            </a:endParaRPr>
          </a:p>
          <a:p>
            <a:pPr indent="0" lvl="0" marL="457200" rtl="0" algn="l">
              <a:spcBef>
                <a:spcPts val="1200"/>
              </a:spcBef>
              <a:spcAft>
                <a:spcPts val="1200"/>
              </a:spcAft>
              <a:buNone/>
            </a:pPr>
            <a:r>
              <a:t/>
            </a:r>
            <a:endParaRPr sz="1200">
              <a:solidFill>
                <a:schemeClr val="dk1"/>
              </a:solidFill>
              <a:latin typeface="Calibri"/>
              <a:ea typeface="Calibri"/>
              <a:cs typeface="Calibri"/>
              <a:sym typeface="Calibri"/>
            </a:endParaRPr>
          </a:p>
        </p:txBody>
      </p:sp>
      <p:sp>
        <p:nvSpPr>
          <p:cNvPr id="112" name="Google Shape;112;p18"/>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113" name="Google Shape;113;p18"/>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pic>
        <p:nvPicPr>
          <p:cNvPr id="114" name="Google Shape;114;p18" title="Captura de pantalla 2025-04-23 105700.png"/>
          <p:cNvPicPr preferRelativeResize="0"/>
          <p:nvPr/>
        </p:nvPicPr>
        <p:blipFill>
          <a:blip r:embed="rId3">
            <a:alphaModFix/>
          </a:blip>
          <a:stretch>
            <a:fillRect/>
          </a:stretch>
        </p:blipFill>
        <p:spPr>
          <a:xfrm>
            <a:off x="396025" y="1221862"/>
            <a:ext cx="3544150" cy="3512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latin typeface="Calibri"/>
                <a:ea typeface="Calibri"/>
                <a:cs typeface="Calibri"/>
                <a:sym typeface="Calibri"/>
              </a:rPr>
              <a:t>Survey and analysis</a:t>
            </a:r>
            <a:endParaRPr>
              <a:latin typeface="Calibri"/>
              <a:ea typeface="Calibri"/>
              <a:cs typeface="Calibri"/>
              <a:sym typeface="Calibri"/>
            </a:endParaRPr>
          </a:p>
        </p:txBody>
      </p:sp>
      <p:sp>
        <p:nvSpPr>
          <p:cNvPr id="120" name="Google Shape;120;p19"/>
          <p:cNvSpPr txBox="1"/>
          <p:nvPr>
            <p:ph idx="1" type="body"/>
          </p:nvPr>
        </p:nvSpPr>
        <p:spPr>
          <a:xfrm>
            <a:off x="4454700" y="1377163"/>
            <a:ext cx="4377600" cy="3357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Calibri"/>
              <a:buChar char="●"/>
            </a:pPr>
            <a:r>
              <a:rPr lang="es-419" sz="1400">
                <a:solidFill>
                  <a:schemeClr val="dk1"/>
                </a:solidFill>
                <a:latin typeface="Calibri"/>
                <a:ea typeface="Calibri"/>
                <a:cs typeface="Calibri"/>
                <a:sym typeface="Calibri"/>
              </a:rPr>
              <a:t>GPR uses high frequency radio waves and transmits into the ground.</a:t>
            </a:r>
            <a:endParaRPr sz="1400">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s-419" sz="1400">
                <a:solidFill>
                  <a:schemeClr val="dk1"/>
                </a:solidFill>
                <a:latin typeface="Calibri"/>
                <a:ea typeface="Calibri"/>
                <a:cs typeface="Calibri"/>
                <a:sym typeface="Calibri"/>
              </a:rPr>
              <a:t>When the wave hits a buried object or a boundary with different </a:t>
            </a:r>
            <a:r>
              <a:rPr b="1" lang="es-419" sz="1400">
                <a:solidFill>
                  <a:schemeClr val="dk1"/>
                </a:solidFill>
                <a:latin typeface="Calibri"/>
                <a:ea typeface="Calibri"/>
                <a:cs typeface="Calibri"/>
                <a:sym typeface="Calibri"/>
              </a:rPr>
              <a:t>dielectric constant,</a:t>
            </a:r>
            <a:r>
              <a:rPr lang="es-419" sz="1400">
                <a:solidFill>
                  <a:schemeClr val="dk1"/>
                </a:solidFill>
                <a:latin typeface="Calibri"/>
                <a:ea typeface="Calibri"/>
                <a:cs typeface="Calibri"/>
                <a:sym typeface="Calibri"/>
              </a:rPr>
              <a:t> the receiving antenna records variations in the reflected return signal. </a:t>
            </a:r>
            <a:endParaRPr sz="1400">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b="1" lang="es-419" sz="1400">
                <a:solidFill>
                  <a:srgbClr val="4A86E8"/>
                </a:solidFill>
                <a:latin typeface="Calibri"/>
                <a:ea typeface="Calibri"/>
                <a:cs typeface="Calibri"/>
                <a:sym typeface="Calibri"/>
              </a:rPr>
              <a:t>Electrical conductivity:</a:t>
            </a:r>
            <a:r>
              <a:rPr lang="es-419" sz="1400">
                <a:solidFill>
                  <a:schemeClr val="dk1"/>
                </a:solidFill>
                <a:latin typeface="Calibri"/>
                <a:ea typeface="Calibri"/>
                <a:cs typeface="Calibri"/>
                <a:sym typeface="Calibri"/>
              </a:rPr>
              <a:t> is the ability of a material to support an electrical current due to an applied electrical field. (sigma)</a:t>
            </a:r>
            <a:endParaRPr sz="1400">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b="1" lang="es-419" sz="1400">
                <a:solidFill>
                  <a:srgbClr val="3C78D8"/>
                </a:solidFill>
                <a:latin typeface="Calibri"/>
                <a:ea typeface="Calibri"/>
                <a:cs typeface="Calibri"/>
                <a:sym typeface="Calibri"/>
              </a:rPr>
              <a:t>Dielectric Permittivity:</a:t>
            </a:r>
            <a:r>
              <a:rPr lang="es-419" sz="1400">
                <a:solidFill>
                  <a:schemeClr val="dk1"/>
                </a:solidFill>
                <a:latin typeface="Calibri"/>
                <a:ea typeface="Calibri"/>
                <a:cs typeface="Calibri"/>
                <a:sym typeface="Calibri"/>
              </a:rPr>
              <a:t> is the property that describes the ability of a material to store electric energy by separating opposite polarity charges in space  (</a:t>
            </a:r>
            <a:r>
              <a:rPr lang="es-419" sz="1400">
                <a:solidFill>
                  <a:srgbClr val="CC0000"/>
                </a:solidFill>
                <a:latin typeface="Calibri"/>
                <a:ea typeface="Calibri"/>
                <a:cs typeface="Calibri"/>
                <a:sym typeface="Calibri"/>
              </a:rPr>
              <a:t>epsilon, K</a:t>
            </a:r>
            <a:r>
              <a:rPr lang="es-419" sz="1400">
                <a:solidFill>
                  <a:schemeClr val="dk1"/>
                </a:solidFill>
                <a:latin typeface="Calibri"/>
                <a:ea typeface="Calibri"/>
                <a:cs typeface="Calibri"/>
                <a:sym typeface="Calibri"/>
              </a:rPr>
              <a:t>).</a:t>
            </a:r>
            <a:endParaRPr sz="14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457200" rtl="0" algn="l">
              <a:spcBef>
                <a:spcPts val="1200"/>
              </a:spcBef>
              <a:spcAft>
                <a:spcPts val="0"/>
              </a:spcAft>
              <a:buNone/>
            </a:pPr>
            <a:r>
              <a:rPr lang="es-419"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highlight>
                <a:schemeClr val="lt1"/>
              </a:highlight>
              <a:latin typeface="Calibri"/>
              <a:ea typeface="Calibri"/>
              <a:cs typeface="Calibri"/>
              <a:sym typeface="Calibri"/>
            </a:endParaRPr>
          </a:p>
          <a:p>
            <a:pPr indent="0" lvl="0" marL="457200" rtl="0" algn="l">
              <a:spcBef>
                <a:spcPts val="1200"/>
              </a:spcBef>
              <a:spcAft>
                <a:spcPts val="1200"/>
              </a:spcAft>
              <a:buNone/>
            </a:pPr>
            <a:r>
              <a:t/>
            </a:r>
            <a:endParaRPr sz="1200">
              <a:solidFill>
                <a:schemeClr val="dk1"/>
              </a:solidFill>
              <a:latin typeface="Calibri"/>
              <a:ea typeface="Calibri"/>
              <a:cs typeface="Calibri"/>
              <a:sym typeface="Calibri"/>
            </a:endParaRPr>
          </a:p>
        </p:txBody>
      </p:sp>
      <p:sp>
        <p:nvSpPr>
          <p:cNvPr id="121" name="Google Shape;121;p19"/>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122" name="Google Shape;122;p19"/>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pic>
        <p:nvPicPr>
          <p:cNvPr id="123" name="Google Shape;123;p19" title="Captura de pantalla 2025-04-23 105700.png"/>
          <p:cNvPicPr preferRelativeResize="0"/>
          <p:nvPr/>
        </p:nvPicPr>
        <p:blipFill>
          <a:blip r:embed="rId3">
            <a:alphaModFix/>
          </a:blip>
          <a:stretch>
            <a:fillRect/>
          </a:stretch>
        </p:blipFill>
        <p:spPr>
          <a:xfrm>
            <a:off x="396025" y="1221862"/>
            <a:ext cx="3544150" cy="3512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latin typeface="Calibri"/>
                <a:ea typeface="Calibri"/>
                <a:cs typeface="Calibri"/>
                <a:sym typeface="Calibri"/>
              </a:rPr>
              <a:t>Survey and analysis</a:t>
            </a:r>
            <a:endParaRPr>
              <a:latin typeface="Calibri"/>
              <a:ea typeface="Calibri"/>
              <a:cs typeface="Calibri"/>
              <a:sym typeface="Calibri"/>
            </a:endParaRPr>
          </a:p>
        </p:txBody>
      </p:sp>
      <p:sp>
        <p:nvSpPr>
          <p:cNvPr id="129" name="Google Shape;129;p20"/>
          <p:cNvSpPr txBox="1"/>
          <p:nvPr>
            <p:ph idx="1" type="body"/>
          </p:nvPr>
        </p:nvSpPr>
        <p:spPr>
          <a:xfrm>
            <a:off x="4454700" y="1377163"/>
            <a:ext cx="4377600" cy="3357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Calibri"/>
              <a:buChar char="●"/>
            </a:pPr>
            <a:r>
              <a:rPr lang="es-419" sz="1400">
                <a:solidFill>
                  <a:schemeClr val="dk1"/>
                </a:solidFill>
                <a:latin typeface="Calibri"/>
                <a:ea typeface="Calibri"/>
                <a:cs typeface="Calibri"/>
                <a:sym typeface="Calibri"/>
              </a:rPr>
              <a:t>The depth range of GPR is limited by the </a:t>
            </a:r>
            <a:r>
              <a:rPr b="1" lang="es-419" sz="1400">
                <a:solidFill>
                  <a:srgbClr val="3C78D8"/>
                </a:solidFill>
                <a:latin typeface="Calibri"/>
                <a:ea typeface="Calibri"/>
                <a:cs typeface="Calibri"/>
                <a:sym typeface="Calibri"/>
              </a:rPr>
              <a:t>electrical conductivity</a:t>
            </a:r>
            <a:r>
              <a:rPr lang="es-419" sz="1400">
                <a:solidFill>
                  <a:schemeClr val="dk1"/>
                </a:solidFill>
                <a:latin typeface="Calibri"/>
                <a:ea typeface="Calibri"/>
                <a:cs typeface="Calibri"/>
                <a:sym typeface="Calibri"/>
              </a:rPr>
              <a:t> of the </a:t>
            </a:r>
            <a:r>
              <a:rPr lang="es-419" sz="1400">
                <a:solidFill>
                  <a:schemeClr val="dk1"/>
                </a:solidFill>
                <a:latin typeface="Calibri"/>
                <a:ea typeface="Calibri"/>
                <a:cs typeface="Calibri"/>
                <a:sym typeface="Calibri"/>
              </a:rPr>
              <a:t>ground</a:t>
            </a:r>
            <a:r>
              <a:rPr lang="es-419" sz="1400">
                <a:solidFill>
                  <a:schemeClr val="dk1"/>
                </a:solidFill>
                <a:latin typeface="Calibri"/>
                <a:ea typeface="Calibri"/>
                <a:cs typeface="Calibri"/>
                <a:sym typeface="Calibri"/>
              </a:rPr>
              <a:t>, the transmitted </a:t>
            </a:r>
            <a:r>
              <a:rPr b="1" lang="es-419" sz="1400">
                <a:solidFill>
                  <a:srgbClr val="6AA84F"/>
                </a:solidFill>
                <a:latin typeface="Calibri"/>
                <a:ea typeface="Calibri"/>
                <a:cs typeface="Calibri"/>
                <a:sym typeface="Calibri"/>
              </a:rPr>
              <a:t>frequency</a:t>
            </a:r>
            <a:r>
              <a:rPr lang="es-419" sz="1400">
                <a:solidFill>
                  <a:schemeClr val="dk1"/>
                </a:solidFill>
                <a:latin typeface="Calibri"/>
                <a:ea typeface="Calibri"/>
                <a:cs typeface="Calibri"/>
                <a:sym typeface="Calibri"/>
              </a:rPr>
              <a:t> and the radiated power. </a:t>
            </a:r>
            <a:endParaRPr sz="1400">
              <a:solidFill>
                <a:schemeClr val="dk1"/>
              </a:solidFill>
              <a:latin typeface="Calibri"/>
              <a:ea typeface="Calibri"/>
              <a:cs typeface="Calibri"/>
              <a:sym typeface="Calibri"/>
            </a:endParaRPr>
          </a:p>
          <a:p>
            <a:pPr indent="0" lvl="0" marL="457200" rtl="0" algn="l">
              <a:spcBef>
                <a:spcPts val="1200"/>
              </a:spcBef>
              <a:spcAft>
                <a:spcPts val="0"/>
              </a:spcAft>
              <a:buNone/>
            </a:pPr>
            <a:r>
              <a:t/>
            </a:r>
            <a:endParaRPr sz="1400">
              <a:solidFill>
                <a:schemeClr val="dk1"/>
              </a:solidFill>
              <a:latin typeface="Calibri"/>
              <a:ea typeface="Calibri"/>
              <a:cs typeface="Calibri"/>
              <a:sym typeface="Calibri"/>
            </a:endParaRPr>
          </a:p>
          <a:p>
            <a:pPr indent="-317500" lvl="0" marL="457200" rtl="0" algn="l">
              <a:spcBef>
                <a:spcPts val="1200"/>
              </a:spcBef>
              <a:spcAft>
                <a:spcPts val="0"/>
              </a:spcAft>
              <a:buClr>
                <a:schemeClr val="dk1"/>
              </a:buClr>
              <a:buSzPts val="1400"/>
              <a:buFont typeface="Calibri"/>
              <a:buChar char="●"/>
            </a:pPr>
            <a:r>
              <a:rPr lang="es-419" sz="1400">
                <a:solidFill>
                  <a:schemeClr val="dk1"/>
                </a:solidFill>
                <a:latin typeface="Calibri"/>
                <a:ea typeface="Calibri"/>
                <a:cs typeface="Calibri"/>
                <a:sym typeface="Calibri"/>
              </a:rPr>
              <a:t>As </a:t>
            </a:r>
            <a:r>
              <a:rPr b="1" lang="es-419" sz="1400">
                <a:solidFill>
                  <a:srgbClr val="3C78D8"/>
                </a:solidFill>
                <a:latin typeface="Calibri"/>
                <a:ea typeface="Calibri"/>
                <a:cs typeface="Calibri"/>
                <a:sym typeface="Calibri"/>
              </a:rPr>
              <a:t>conductivity</a:t>
            </a:r>
            <a:r>
              <a:rPr lang="es-419" sz="1400">
                <a:solidFill>
                  <a:schemeClr val="dk1"/>
                </a:solidFill>
                <a:latin typeface="Calibri"/>
                <a:ea typeface="Calibri"/>
                <a:cs typeface="Calibri"/>
                <a:sym typeface="Calibri"/>
              </a:rPr>
              <a:t> increases, the penetration depth decreases. </a:t>
            </a:r>
            <a:endParaRPr sz="1400">
              <a:solidFill>
                <a:schemeClr val="dk1"/>
              </a:solidFill>
              <a:latin typeface="Calibri"/>
              <a:ea typeface="Calibri"/>
              <a:cs typeface="Calibri"/>
              <a:sym typeface="Calibri"/>
            </a:endParaRPr>
          </a:p>
          <a:p>
            <a:pPr indent="0" lvl="0" marL="457200" rtl="0" algn="l">
              <a:spcBef>
                <a:spcPts val="1200"/>
              </a:spcBef>
              <a:spcAft>
                <a:spcPts val="0"/>
              </a:spcAft>
              <a:buNone/>
            </a:pPr>
            <a:r>
              <a:t/>
            </a:r>
            <a:endParaRPr sz="1400">
              <a:solidFill>
                <a:schemeClr val="dk1"/>
              </a:solidFill>
              <a:latin typeface="Calibri"/>
              <a:ea typeface="Calibri"/>
              <a:cs typeface="Calibri"/>
              <a:sym typeface="Calibri"/>
            </a:endParaRPr>
          </a:p>
          <a:p>
            <a:pPr indent="-317500" lvl="0" marL="457200" rtl="0" algn="l">
              <a:spcBef>
                <a:spcPts val="1200"/>
              </a:spcBef>
              <a:spcAft>
                <a:spcPts val="0"/>
              </a:spcAft>
              <a:buClr>
                <a:schemeClr val="dk1"/>
              </a:buClr>
              <a:buSzPts val="1400"/>
              <a:buFont typeface="Calibri"/>
              <a:buChar char="●"/>
            </a:pPr>
            <a:r>
              <a:rPr lang="es-419" sz="1400">
                <a:solidFill>
                  <a:schemeClr val="dk1"/>
                </a:solidFill>
                <a:latin typeface="Calibri"/>
                <a:ea typeface="Calibri"/>
                <a:cs typeface="Calibri"/>
                <a:sym typeface="Calibri"/>
              </a:rPr>
              <a:t>Higher </a:t>
            </a:r>
            <a:r>
              <a:rPr b="1" lang="es-419" sz="1400">
                <a:solidFill>
                  <a:srgbClr val="6AA84F"/>
                </a:solidFill>
                <a:latin typeface="Calibri"/>
                <a:ea typeface="Calibri"/>
                <a:cs typeface="Calibri"/>
                <a:sym typeface="Calibri"/>
              </a:rPr>
              <a:t>frequencies</a:t>
            </a:r>
            <a:r>
              <a:rPr lang="es-419" sz="1400">
                <a:solidFill>
                  <a:schemeClr val="dk1"/>
                </a:solidFill>
                <a:latin typeface="Calibri"/>
                <a:ea typeface="Calibri"/>
                <a:cs typeface="Calibri"/>
                <a:sym typeface="Calibri"/>
              </a:rPr>
              <a:t> do not penetrate as far as lower frequencies, but give better resolution. </a:t>
            </a:r>
            <a:endParaRPr sz="14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457200" rtl="0" algn="l">
              <a:spcBef>
                <a:spcPts val="1200"/>
              </a:spcBef>
              <a:spcAft>
                <a:spcPts val="0"/>
              </a:spcAft>
              <a:buNone/>
            </a:pPr>
            <a:r>
              <a:rPr lang="es-419"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highlight>
                <a:schemeClr val="lt1"/>
              </a:highlight>
              <a:latin typeface="Calibri"/>
              <a:ea typeface="Calibri"/>
              <a:cs typeface="Calibri"/>
              <a:sym typeface="Calibri"/>
            </a:endParaRPr>
          </a:p>
          <a:p>
            <a:pPr indent="0" lvl="0" marL="457200" rtl="0" algn="l">
              <a:spcBef>
                <a:spcPts val="1200"/>
              </a:spcBef>
              <a:spcAft>
                <a:spcPts val="1200"/>
              </a:spcAft>
              <a:buNone/>
            </a:pPr>
            <a:r>
              <a:t/>
            </a:r>
            <a:endParaRPr sz="1200">
              <a:solidFill>
                <a:schemeClr val="dk1"/>
              </a:solidFill>
              <a:latin typeface="Calibri"/>
              <a:ea typeface="Calibri"/>
              <a:cs typeface="Calibri"/>
              <a:sym typeface="Calibri"/>
            </a:endParaRPr>
          </a:p>
        </p:txBody>
      </p:sp>
      <p:sp>
        <p:nvSpPr>
          <p:cNvPr id="130" name="Google Shape;130;p20"/>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131" name="Google Shape;131;p20"/>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pic>
        <p:nvPicPr>
          <p:cNvPr id="132" name="Google Shape;132;p20" title="Captura de pantalla 2025-04-23 105700.png"/>
          <p:cNvPicPr preferRelativeResize="0"/>
          <p:nvPr/>
        </p:nvPicPr>
        <p:blipFill>
          <a:blip r:embed="rId3">
            <a:alphaModFix/>
          </a:blip>
          <a:stretch>
            <a:fillRect/>
          </a:stretch>
        </p:blipFill>
        <p:spPr>
          <a:xfrm>
            <a:off x="396025" y="1221862"/>
            <a:ext cx="3544150" cy="3512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latin typeface="Calibri"/>
                <a:ea typeface="Calibri"/>
                <a:cs typeface="Calibri"/>
                <a:sym typeface="Calibri"/>
              </a:rPr>
              <a:t>Survey and analysis</a:t>
            </a:r>
            <a:endParaRPr>
              <a:latin typeface="Calibri"/>
              <a:ea typeface="Calibri"/>
              <a:cs typeface="Calibri"/>
              <a:sym typeface="Calibri"/>
            </a:endParaRPr>
          </a:p>
        </p:txBody>
      </p:sp>
      <p:sp>
        <p:nvSpPr>
          <p:cNvPr id="138" name="Google Shape;138;p21"/>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139" name="Google Shape;139;p21"/>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pic>
        <p:nvPicPr>
          <p:cNvPr id="140" name="Google Shape;140;p21" title="Captura de pantalla 2025-04-23 113003.png"/>
          <p:cNvPicPr preferRelativeResize="0"/>
          <p:nvPr/>
        </p:nvPicPr>
        <p:blipFill>
          <a:blip r:embed="rId3">
            <a:alphaModFix/>
          </a:blip>
          <a:stretch>
            <a:fillRect/>
          </a:stretch>
        </p:blipFill>
        <p:spPr>
          <a:xfrm>
            <a:off x="437888" y="1227013"/>
            <a:ext cx="3507762" cy="3507762"/>
          </a:xfrm>
          <a:prstGeom prst="rect">
            <a:avLst/>
          </a:prstGeom>
          <a:noFill/>
          <a:ln>
            <a:noFill/>
          </a:ln>
        </p:spPr>
      </p:pic>
      <p:sp>
        <p:nvSpPr>
          <p:cNvPr id="141" name="Google Shape;141;p21"/>
          <p:cNvSpPr txBox="1"/>
          <p:nvPr>
            <p:ph idx="1" type="body"/>
          </p:nvPr>
        </p:nvSpPr>
        <p:spPr>
          <a:xfrm>
            <a:off x="4454700" y="1377163"/>
            <a:ext cx="4377600" cy="3357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Calibri"/>
              <a:buChar char="●"/>
            </a:pPr>
            <a:r>
              <a:rPr lang="es-419" sz="1400">
                <a:solidFill>
                  <a:schemeClr val="dk1"/>
                </a:solidFill>
                <a:latin typeface="Calibri"/>
                <a:ea typeface="Calibri"/>
                <a:cs typeface="Calibri"/>
                <a:sym typeface="Calibri"/>
              </a:rPr>
              <a:t>The depth range of GPR is limited by the </a:t>
            </a:r>
            <a:r>
              <a:rPr b="1" lang="es-419" sz="1400">
                <a:solidFill>
                  <a:srgbClr val="3C78D8"/>
                </a:solidFill>
                <a:latin typeface="Calibri"/>
                <a:ea typeface="Calibri"/>
                <a:cs typeface="Calibri"/>
                <a:sym typeface="Calibri"/>
              </a:rPr>
              <a:t>electrical conductivity</a:t>
            </a:r>
            <a:r>
              <a:rPr lang="es-419" sz="1400">
                <a:solidFill>
                  <a:schemeClr val="dk1"/>
                </a:solidFill>
                <a:latin typeface="Calibri"/>
                <a:ea typeface="Calibri"/>
                <a:cs typeface="Calibri"/>
                <a:sym typeface="Calibri"/>
              </a:rPr>
              <a:t> of the ground, the transmitted </a:t>
            </a:r>
            <a:r>
              <a:rPr b="1" lang="es-419" sz="1400">
                <a:solidFill>
                  <a:srgbClr val="6AA84F"/>
                </a:solidFill>
                <a:latin typeface="Calibri"/>
                <a:ea typeface="Calibri"/>
                <a:cs typeface="Calibri"/>
                <a:sym typeface="Calibri"/>
              </a:rPr>
              <a:t>frequency</a:t>
            </a:r>
            <a:r>
              <a:rPr lang="es-419" sz="1400">
                <a:solidFill>
                  <a:schemeClr val="dk1"/>
                </a:solidFill>
                <a:latin typeface="Calibri"/>
                <a:ea typeface="Calibri"/>
                <a:cs typeface="Calibri"/>
                <a:sym typeface="Calibri"/>
              </a:rPr>
              <a:t> and the radiated power. </a:t>
            </a:r>
            <a:endParaRPr sz="1400">
              <a:solidFill>
                <a:schemeClr val="dk1"/>
              </a:solidFill>
              <a:latin typeface="Calibri"/>
              <a:ea typeface="Calibri"/>
              <a:cs typeface="Calibri"/>
              <a:sym typeface="Calibri"/>
            </a:endParaRPr>
          </a:p>
          <a:p>
            <a:pPr indent="0" lvl="0" marL="457200" rtl="0" algn="l">
              <a:spcBef>
                <a:spcPts val="1200"/>
              </a:spcBef>
              <a:spcAft>
                <a:spcPts val="0"/>
              </a:spcAft>
              <a:buNone/>
            </a:pPr>
            <a:r>
              <a:t/>
            </a:r>
            <a:endParaRPr sz="1400">
              <a:solidFill>
                <a:schemeClr val="dk1"/>
              </a:solidFill>
              <a:latin typeface="Calibri"/>
              <a:ea typeface="Calibri"/>
              <a:cs typeface="Calibri"/>
              <a:sym typeface="Calibri"/>
            </a:endParaRPr>
          </a:p>
          <a:p>
            <a:pPr indent="-317500" lvl="0" marL="457200" rtl="0" algn="l">
              <a:spcBef>
                <a:spcPts val="1200"/>
              </a:spcBef>
              <a:spcAft>
                <a:spcPts val="0"/>
              </a:spcAft>
              <a:buClr>
                <a:schemeClr val="dk1"/>
              </a:buClr>
              <a:buSzPts val="1400"/>
              <a:buFont typeface="Calibri"/>
              <a:buChar char="●"/>
            </a:pPr>
            <a:r>
              <a:rPr lang="es-419" sz="1400">
                <a:solidFill>
                  <a:schemeClr val="dk1"/>
                </a:solidFill>
                <a:latin typeface="Calibri"/>
                <a:ea typeface="Calibri"/>
                <a:cs typeface="Calibri"/>
                <a:sym typeface="Calibri"/>
              </a:rPr>
              <a:t>As </a:t>
            </a:r>
            <a:r>
              <a:rPr b="1" lang="es-419" sz="1400">
                <a:solidFill>
                  <a:srgbClr val="3C78D8"/>
                </a:solidFill>
                <a:latin typeface="Calibri"/>
                <a:ea typeface="Calibri"/>
                <a:cs typeface="Calibri"/>
                <a:sym typeface="Calibri"/>
              </a:rPr>
              <a:t>conductivity</a:t>
            </a:r>
            <a:r>
              <a:rPr lang="es-419" sz="1400">
                <a:solidFill>
                  <a:schemeClr val="dk1"/>
                </a:solidFill>
                <a:latin typeface="Calibri"/>
                <a:ea typeface="Calibri"/>
                <a:cs typeface="Calibri"/>
                <a:sym typeface="Calibri"/>
              </a:rPr>
              <a:t> increases, the penetration depth decreases. </a:t>
            </a:r>
            <a:endParaRPr sz="1400">
              <a:solidFill>
                <a:schemeClr val="dk1"/>
              </a:solidFill>
              <a:latin typeface="Calibri"/>
              <a:ea typeface="Calibri"/>
              <a:cs typeface="Calibri"/>
              <a:sym typeface="Calibri"/>
            </a:endParaRPr>
          </a:p>
          <a:p>
            <a:pPr indent="0" lvl="0" marL="457200" rtl="0" algn="l">
              <a:spcBef>
                <a:spcPts val="1200"/>
              </a:spcBef>
              <a:spcAft>
                <a:spcPts val="0"/>
              </a:spcAft>
              <a:buNone/>
            </a:pPr>
            <a:r>
              <a:t/>
            </a:r>
            <a:endParaRPr sz="1400">
              <a:solidFill>
                <a:schemeClr val="dk1"/>
              </a:solidFill>
              <a:latin typeface="Calibri"/>
              <a:ea typeface="Calibri"/>
              <a:cs typeface="Calibri"/>
              <a:sym typeface="Calibri"/>
            </a:endParaRPr>
          </a:p>
          <a:p>
            <a:pPr indent="-317500" lvl="0" marL="457200" rtl="0" algn="l">
              <a:spcBef>
                <a:spcPts val="1200"/>
              </a:spcBef>
              <a:spcAft>
                <a:spcPts val="0"/>
              </a:spcAft>
              <a:buClr>
                <a:schemeClr val="dk1"/>
              </a:buClr>
              <a:buSzPts val="1400"/>
              <a:buFont typeface="Calibri"/>
              <a:buChar char="●"/>
            </a:pPr>
            <a:r>
              <a:rPr lang="es-419" sz="1400">
                <a:solidFill>
                  <a:schemeClr val="dk1"/>
                </a:solidFill>
                <a:latin typeface="Calibri"/>
                <a:ea typeface="Calibri"/>
                <a:cs typeface="Calibri"/>
                <a:sym typeface="Calibri"/>
              </a:rPr>
              <a:t>Higher </a:t>
            </a:r>
            <a:r>
              <a:rPr b="1" lang="es-419" sz="1400">
                <a:solidFill>
                  <a:srgbClr val="6AA84F"/>
                </a:solidFill>
                <a:latin typeface="Calibri"/>
                <a:ea typeface="Calibri"/>
                <a:cs typeface="Calibri"/>
                <a:sym typeface="Calibri"/>
              </a:rPr>
              <a:t>frequencies</a:t>
            </a:r>
            <a:r>
              <a:rPr lang="es-419" sz="1400">
                <a:solidFill>
                  <a:schemeClr val="dk1"/>
                </a:solidFill>
                <a:latin typeface="Calibri"/>
                <a:ea typeface="Calibri"/>
                <a:cs typeface="Calibri"/>
                <a:sym typeface="Calibri"/>
              </a:rPr>
              <a:t> do not penetrate as far as lower frequencies, but give better resolution. </a:t>
            </a:r>
            <a:endParaRPr sz="14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457200" rtl="0" algn="l">
              <a:spcBef>
                <a:spcPts val="1200"/>
              </a:spcBef>
              <a:spcAft>
                <a:spcPts val="0"/>
              </a:spcAft>
              <a:buNone/>
            </a:pPr>
            <a:r>
              <a:rPr lang="es-419"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highlight>
                <a:schemeClr val="lt1"/>
              </a:highlight>
              <a:latin typeface="Calibri"/>
              <a:ea typeface="Calibri"/>
              <a:cs typeface="Calibri"/>
              <a:sym typeface="Calibri"/>
            </a:endParaRPr>
          </a:p>
          <a:p>
            <a:pPr indent="0" lvl="0" marL="457200" rtl="0" algn="l">
              <a:spcBef>
                <a:spcPts val="1200"/>
              </a:spcBef>
              <a:spcAft>
                <a:spcPts val="1200"/>
              </a:spcAft>
              <a:buNone/>
            </a:pPr>
            <a:r>
              <a:t/>
            </a:r>
            <a:endParaRPr sz="12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s-419">
                <a:latin typeface="Calibri"/>
                <a:ea typeface="Calibri"/>
                <a:cs typeface="Calibri"/>
                <a:sym typeface="Calibri"/>
              </a:rPr>
              <a:t>Survey and analysis</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
        <p:nvSpPr>
          <p:cNvPr id="147" name="Google Shape;147;p22"/>
          <p:cNvSpPr txBox="1"/>
          <p:nvPr>
            <p:ph idx="1" type="body"/>
          </p:nvPr>
        </p:nvSpPr>
        <p:spPr>
          <a:xfrm>
            <a:off x="311700" y="1152475"/>
            <a:ext cx="8520600" cy="34164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457200" rtl="0" algn="l">
              <a:spcBef>
                <a:spcPts val="1200"/>
              </a:spcBef>
              <a:spcAft>
                <a:spcPts val="0"/>
              </a:spcAft>
              <a:buNone/>
            </a:pPr>
            <a:r>
              <a:rPr lang="es-419"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highlight>
                <a:schemeClr val="lt1"/>
              </a:highlight>
              <a:latin typeface="Calibri"/>
              <a:ea typeface="Calibri"/>
              <a:cs typeface="Calibri"/>
              <a:sym typeface="Calibri"/>
            </a:endParaRPr>
          </a:p>
          <a:p>
            <a:pPr indent="0" lvl="0" marL="457200" rtl="0" algn="l">
              <a:spcBef>
                <a:spcPts val="1200"/>
              </a:spcBef>
              <a:spcAft>
                <a:spcPts val="1200"/>
              </a:spcAft>
              <a:buNone/>
            </a:pPr>
            <a:r>
              <a:t/>
            </a:r>
            <a:endParaRPr sz="800">
              <a:solidFill>
                <a:schemeClr val="dk1"/>
              </a:solidFill>
              <a:latin typeface="Calibri"/>
              <a:ea typeface="Calibri"/>
              <a:cs typeface="Calibri"/>
              <a:sym typeface="Calibri"/>
            </a:endParaRPr>
          </a:p>
        </p:txBody>
      </p:sp>
      <p:sp>
        <p:nvSpPr>
          <p:cNvPr id="148" name="Google Shape;148;p22"/>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149" name="Google Shape;149;p22"/>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pic>
        <p:nvPicPr>
          <p:cNvPr id="150" name="Google Shape;150;p22" title="Captura de pantalla 2025-04-23 113105.png"/>
          <p:cNvPicPr preferRelativeResize="0"/>
          <p:nvPr/>
        </p:nvPicPr>
        <p:blipFill>
          <a:blip r:embed="rId3">
            <a:alphaModFix/>
          </a:blip>
          <a:stretch>
            <a:fillRect/>
          </a:stretch>
        </p:blipFill>
        <p:spPr>
          <a:xfrm>
            <a:off x="453595" y="1243887"/>
            <a:ext cx="3492855" cy="3477387"/>
          </a:xfrm>
          <a:prstGeom prst="rect">
            <a:avLst/>
          </a:prstGeom>
          <a:noFill/>
          <a:ln>
            <a:noFill/>
          </a:ln>
        </p:spPr>
      </p:pic>
      <p:sp>
        <p:nvSpPr>
          <p:cNvPr id="151" name="Google Shape;151;p22"/>
          <p:cNvSpPr txBox="1"/>
          <p:nvPr>
            <p:ph idx="1" type="body"/>
          </p:nvPr>
        </p:nvSpPr>
        <p:spPr>
          <a:xfrm>
            <a:off x="4454700" y="1377163"/>
            <a:ext cx="4377600" cy="3357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Calibri"/>
              <a:buChar char="●"/>
            </a:pPr>
            <a:r>
              <a:rPr lang="es-419" sz="1400">
                <a:solidFill>
                  <a:schemeClr val="dk1"/>
                </a:solidFill>
                <a:latin typeface="Calibri"/>
                <a:ea typeface="Calibri"/>
                <a:cs typeface="Calibri"/>
                <a:sym typeface="Calibri"/>
              </a:rPr>
              <a:t>The depth range of GPR is limited by the </a:t>
            </a:r>
            <a:r>
              <a:rPr b="1" lang="es-419" sz="1400">
                <a:solidFill>
                  <a:srgbClr val="3C78D8"/>
                </a:solidFill>
                <a:latin typeface="Calibri"/>
                <a:ea typeface="Calibri"/>
                <a:cs typeface="Calibri"/>
                <a:sym typeface="Calibri"/>
              </a:rPr>
              <a:t>electrical conductivity</a:t>
            </a:r>
            <a:r>
              <a:rPr lang="es-419" sz="1400">
                <a:solidFill>
                  <a:schemeClr val="dk1"/>
                </a:solidFill>
                <a:latin typeface="Calibri"/>
                <a:ea typeface="Calibri"/>
                <a:cs typeface="Calibri"/>
                <a:sym typeface="Calibri"/>
              </a:rPr>
              <a:t> of the ground, the transmitted </a:t>
            </a:r>
            <a:r>
              <a:rPr b="1" lang="es-419" sz="1400">
                <a:solidFill>
                  <a:srgbClr val="6AA84F"/>
                </a:solidFill>
                <a:latin typeface="Calibri"/>
                <a:ea typeface="Calibri"/>
                <a:cs typeface="Calibri"/>
                <a:sym typeface="Calibri"/>
              </a:rPr>
              <a:t>frequency</a:t>
            </a:r>
            <a:r>
              <a:rPr lang="es-419" sz="1400">
                <a:solidFill>
                  <a:schemeClr val="dk1"/>
                </a:solidFill>
                <a:latin typeface="Calibri"/>
                <a:ea typeface="Calibri"/>
                <a:cs typeface="Calibri"/>
                <a:sym typeface="Calibri"/>
              </a:rPr>
              <a:t> and the radiated power. </a:t>
            </a:r>
            <a:endParaRPr sz="1400">
              <a:solidFill>
                <a:schemeClr val="dk1"/>
              </a:solidFill>
              <a:latin typeface="Calibri"/>
              <a:ea typeface="Calibri"/>
              <a:cs typeface="Calibri"/>
              <a:sym typeface="Calibri"/>
            </a:endParaRPr>
          </a:p>
          <a:p>
            <a:pPr indent="0" lvl="0" marL="457200" rtl="0" algn="l">
              <a:spcBef>
                <a:spcPts val="1200"/>
              </a:spcBef>
              <a:spcAft>
                <a:spcPts val="0"/>
              </a:spcAft>
              <a:buNone/>
            </a:pPr>
            <a:r>
              <a:t/>
            </a:r>
            <a:endParaRPr sz="1400">
              <a:solidFill>
                <a:schemeClr val="dk1"/>
              </a:solidFill>
              <a:latin typeface="Calibri"/>
              <a:ea typeface="Calibri"/>
              <a:cs typeface="Calibri"/>
              <a:sym typeface="Calibri"/>
            </a:endParaRPr>
          </a:p>
          <a:p>
            <a:pPr indent="-317500" lvl="0" marL="457200" rtl="0" algn="l">
              <a:spcBef>
                <a:spcPts val="1200"/>
              </a:spcBef>
              <a:spcAft>
                <a:spcPts val="0"/>
              </a:spcAft>
              <a:buClr>
                <a:schemeClr val="dk1"/>
              </a:buClr>
              <a:buSzPts val="1400"/>
              <a:buFont typeface="Calibri"/>
              <a:buChar char="●"/>
            </a:pPr>
            <a:r>
              <a:rPr lang="es-419" sz="1400">
                <a:solidFill>
                  <a:schemeClr val="dk1"/>
                </a:solidFill>
                <a:latin typeface="Calibri"/>
                <a:ea typeface="Calibri"/>
                <a:cs typeface="Calibri"/>
                <a:sym typeface="Calibri"/>
              </a:rPr>
              <a:t>As </a:t>
            </a:r>
            <a:r>
              <a:rPr b="1" lang="es-419" sz="1400">
                <a:solidFill>
                  <a:srgbClr val="3C78D8"/>
                </a:solidFill>
                <a:latin typeface="Calibri"/>
                <a:ea typeface="Calibri"/>
                <a:cs typeface="Calibri"/>
                <a:sym typeface="Calibri"/>
              </a:rPr>
              <a:t>conductivity</a:t>
            </a:r>
            <a:r>
              <a:rPr lang="es-419" sz="1400">
                <a:solidFill>
                  <a:schemeClr val="dk1"/>
                </a:solidFill>
                <a:latin typeface="Calibri"/>
                <a:ea typeface="Calibri"/>
                <a:cs typeface="Calibri"/>
                <a:sym typeface="Calibri"/>
              </a:rPr>
              <a:t> increases, the penetration depth decreases. </a:t>
            </a:r>
            <a:endParaRPr sz="1400">
              <a:solidFill>
                <a:schemeClr val="dk1"/>
              </a:solidFill>
              <a:latin typeface="Calibri"/>
              <a:ea typeface="Calibri"/>
              <a:cs typeface="Calibri"/>
              <a:sym typeface="Calibri"/>
            </a:endParaRPr>
          </a:p>
          <a:p>
            <a:pPr indent="0" lvl="0" marL="457200" rtl="0" algn="l">
              <a:spcBef>
                <a:spcPts val="1200"/>
              </a:spcBef>
              <a:spcAft>
                <a:spcPts val="0"/>
              </a:spcAft>
              <a:buNone/>
            </a:pPr>
            <a:r>
              <a:t/>
            </a:r>
            <a:endParaRPr sz="1400">
              <a:solidFill>
                <a:schemeClr val="dk1"/>
              </a:solidFill>
              <a:latin typeface="Calibri"/>
              <a:ea typeface="Calibri"/>
              <a:cs typeface="Calibri"/>
              <a:sym typeface="Calibri"/>
            </a:endParaRPr>
          </a:p>
          <a:p>
            <a:pPr indent="-317500" lvl="0" marL="457200" rtl="0" algn="l">
              <a:spcBef>
                <a:spcPts val="1200"/>
              </a:spcBef>
              <a:spcAft>
                <a:spcPts val="0"/>
              </a:spcAft>
              <a:buClr>
                <a:schemeClr val="dk1"/>
              </a:buClr>
              <a:buSzPts val="1400"/>
              <a:buFont typeface="Calibri"/>
              <a:buChar char="●"/>
            </a:pPr>
            <a:r>
              <a:rPr lang="es-419" sz="1400">
                <a:solidFill>
                  <a:schemeClr val="dk1"/>
                </a:solidFill>
                <a:latin typeface="Calibri"/>
                <a:ea typeface="Calibri"/>
                <a:cs typeface="Calibri"/>
                <a:sym typeface="Calibri"/>
              </a:rPr>
              <a:t>Higher </a:t>
            </a:r>
            <a:r>
              <a:rPr b="1" lang="es-419" sz="1400">
                <a:solidFill>
                  <a:srgbClr val="6AA84F"/>
                </a:solidFill>
                <a:latin typeface="Calibri"/>
                <a:ea typeface="Calibri"/>
                <a:cs typeface="Calibri"/>
                <a:sym typeface="Calibri"/>
              </a:rPr>
              <a:t>frequencies</a:t>
            </a:r>
            <a:r>
              <a:rPr lang="es-419" sz="1400">
                <a:solidFill>
                  <a:schemeClr val="dk1"/>
                </a:solidFill>
                <a:latin typeface="Calibri"/>
                <a:ea typeface="Calibri"/>
                <a:cs typeface="Calibri"/>
                <a:sym typeface="Calibri"/>
              </a:rPr>
              <a:t> do not penetrate as far as lower frequencies, but give better resolution. </a:t>
            </a:r>
            <a:endParaRPr sz="14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a:p>
            <a:pPr indent="0" lvl="0" marL="457200" rtl="0" algn="l">
              <a:spcBef>
                <a:spcPts val="1200"/>
              </a:spcBef>
              <a:spcAft>
                <a:spcPts val="0"/>
              </a:spcAft>
              <a:buNone/>
            </a:pPr>
            <a:r>
              <a:rPr lang="es-419"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highlight>
                <a:schemeClr val="lt1"/>
              </a:highlight>
              <a:latin typeface="Calibri"/>
              <a:ea typeface="Calibri"/>
              <a:cs typeface="Calibri"/>
              <a:sym typeface="Calibri"/>
            </a:endParaRPr>
          </a:p>
          <a:p>
            <a:pPr indent="0" lvl="0" marL="457200" rtl="0" algn="l">
              <a:spcBef>
                <a:spcPts val="1200"/>
              </a:spcBef>
              <a:spcAft>
                <a:spcPts val="1200"/>
              </a:spcAft>
              <a:buNone/>
            </a:pPr>
            <a:r>
              <a:t/>
            </a:r>
            <a:endParaRPr sz="12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latin typeface="Calibri"/>
                <a:ea typeface="Calibri"/>
                <a:cs typeface="Calibri"/>
                <a:sym typeface="Calibri"/>
              </a:rPr>
              <a:t>Survey and analysis</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
        <p:nvSpPr>
          <p:cNvPr id="157" name="Google Shape;157;p23"/>
          <p:cNvSpPr txBox="1"/>
          <p:nvPr>
            <p:ph idx="1" type="body"/>
          </p:nvPr>
        </p:nvSpPr>
        <p:spPr>
          <a:xfrm>
            <a:off x="311700" y="1152475"/>
            <a:ext cx="8520600" cy="34164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457200" rtl="0" algn="l">
              <a:spcBef>
                <a:spcPts val="1200"/>
              </a:spcBef>
              <a:spcAft>
                <a:spcPts val="0"/>
              </a:spcAft>
              <a:buNone/>
            </a:pPr>
            <a:r>
              <a:rPr lang="es-419"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highlight>
                <a:schemeClr val="lt1"/>
              </a:highlight>
              <a:latin typeface="Calibri"/>
              <a:ea typeface="Calibri"/>
              <a:cs typeface="Calibri"/>
              <a:sym typeface="Calibri"/>
            </a:endParaRPr>
          </a:p>
          <a:p>
            <a:pPr indent="0" lvl="0" marL="457200" rtl="0" algn="l">
              <a:spcBef>
                <a:spcPts val="1200"/>
              </a:spcBef>
              <a:spcAft>
                <a:spcPts val="1200"/>
              </a:spcAft>
              <a:buNone/>
            </a:pPr>
            <a:r>
              <a:t/>
            </a:r>
            <a:endParaRPr sz="800">
              <a:solidFill>
                <a:schemeClr val="dk1"/>
              </a:solidFill>
              <a:latin typeface="Calibri"/>
              <a:ea typeface="Calibri"/>
              <a:cs typeface="Calibri"/>
              <a:sym typeface="Calibri"/>
            </a:endParaRPr>
          </a:p>
        </p:txBody>
      </p:sp>
      <p:sp>
        <p:nvSpPr>
          <p:cNvPr id="158" name="Google Shape;158;p23"/>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159" name="Google Shape;159;p23"/>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pic>
        <p:nvPicPr>
          <p:cNvPr id="160" name="Google Shape;160;p23" title="Captura de pantalla 2025-04-23 130951.png"/>
          <p:cNvPicPr preferRelativeResize="0"/>
          <p:nvPr/>
        </p:nvPicPr>
        <p:blipFill>
          <a:blip r:embed="rId3">
            <a:alphaModFix/>
          </a:blip>
          <a:stretch>
            <a:fillRect/>
          </a:stretch>
        </p:blipFill>
        <p:spPr>
          <a:xfrm>
            <a:off x="449100" y="1275175"/>
            <a:ext cx="3519525" cy="3480800"/>
          </a:xfrm>
          <a:prstGeom prst="rect">
            <a:avLst/>
          </a:prstGeom>
          <a:noFill/>
          <a:ln>
            <a:noFill/>
          </a:ln>
        </p:spPr>
      </p:pic>
      <p:pic>
        <p:nvPicPr>
          <p:cNvPr id="161" name="Google Shape;161;p23" title="Captura de pantalla 2025-04-23 131016.png"/>
          <p:cNvPicPr preferRelativeResize="0"/>
          <p:nvPr/>
        </p:nvPicPr>
        <p:blipFill>
          <a:blip r:embed="rId4">
            <a:alphaModFix/>
          </a:blip>
          <a:stretch>
            <a:fillRect/>
          </a:stretch>
        </p:blipFill>
        <p:spPr>
          <a:xfrm>
            <a:off x="4083275" y="1392338"/>
            <a:ext cx="2596125" cy="3241476"/>
          </a:xfrm>
          <a:prstGeom prst="rect">
            <a:avLst/>
          </a:prstGeom>
          <a:noFill/>
          <a:ln>
            <a:noFill/>
          </a:ln>
        </p:spPr>
      </p:pic>
      <p:sp>
        <p:nvSpPr>
          <p:cNvPr id="162" name="Google Shape;162;p23"/>
          <p:cNvSpPr txBox="1"/>
          <p:nvPr/>
        </p:nvSpPr>
        <p:spPr>
          <a:xfrm>
            <a:off x="6752725" y="1275175"/>
            <a:ext cx="2384700" cy="102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GPR registers the </a:t>
            </a:r>
            <a:r>
              <a:rPr lang="es-419" sz="1500">
                <a:solidFill>
                  <a:schemeClr val="dk1"/>
                </a:solidFill>
                <a:latin typeface="Calibri"/>
                <a:ea typeface="Calibri"/>
                <a:cs typeface="Calibri"/>
                <a:sym typeface="Calibri"/>
              </a:rPr>
              <a:t>amplitude</a:t>
            </a:r>
            <a:r>
              <a:rPr lang="es-419" sz="1500">
                <a:solidFill>
                  <a:schemeClr val="dk1"/>
                </a:solidFill>
                <a:latin typeface="Calibri"/>
                <a:ea typeface="Calibri"/>
                <a:cs typeface="Calibri"/>
                <a:sym typeface="Calibri"/>
              </a:rPr>
              <a:t> and the time of the arrival of the signals</a:t>
            </a:r>
            <a:endParaRPr sz="1500">
              <a:solidFill>
                <a:schemeClr val="dk1"/>
              </a:solidFill>
              <a:latin typeface="Calibri"/>
              <a:ea typeface="Calibri"/>
              <a:cs typeface="Calibri"/>
              <a:sym typeface="Calibri"/>
            </a:endParaRPr>
          </a:p>
        </p:txBody>
      </p:sp>
      <p:pic>
        <p:nvPicPr>
          <p:cNvPr id="163" name="Google Shape;163;p23" title="Captura de pantalla 2025-04-23 135959.png"/>
          <p:cNvPicPr preferRelativeResize="0"/>
          <p:nvPr/>
        </p:nvPicPr>
        <p:blipFill>
          <a:blip r:embed="rId5">
            <a:alphaModFix/>
          </a:blip>
          <a:stretch>
            <a:fillRect/>
          </a:stretch>
        </p:blipFill>
        <p:spPr>
          <a:xfrm>
            <a:off x="7624512" y="2211725"/>
            <a:ext cx="1058675" cy="610250"/>
          </a:xfrm>
          <a:prstGeom prst="rect">
            <a:avLst/>
          </a:prstGeom>
          <a:noFill/>
          <a:ln>
            <a:noFill/>
          </a:ln>
        </p:spPr>
      </p:pic>
      <p:pic>
        <p:nvPicPr>
          <p:cNvPr id="164" name="Google Shape;164;p23" title="Captura de pantalla 2025-04-23 140009.png"/>
          <p:cNvPicPr preferRelativeResize="0"/>
          <p:nvPr/>
        </p:nvPicPr>
        <p:blipFill>
          <a:blip r:embed="rId6">
            <a:alphaModFix/>
          </a:blip>
          <a:stretch>
            <a:fillRect/>
          </a:stretch>
        </p:blipFill>
        <p:spPr>
          <a:xfrm>
            <a:off x="8022563" y="3158949"/>
            <a:ext cx="924550" cy="667750"/>
          </a:xfrm>
          <a:prstGeom prst="rect">
            <a:avLst/>
          </a:prstGeom>
          <a:noFill/>
          <a:ln>
            <a:noFill/>
          </a:ln>
        </p:spPr>
      </p:pic>
      <p:sp>
        <p:nvSpPr>
          <p:cNvPr id="165" name="Google Shape;165;p23"/>
          <p:cNvSpPr txBox="1"/>
          <p:nvPr/>
        </p:nvSpPr>
        <p:spPr>
          <a:xfrm>
            <a:off x="6794050" y="2361750"/>
            <a:ext cx="1574100" cy="31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Depth</a:t>
            </a:r>
            <a:endParaRPr sz="1500">
              <a:solidFill>
                <a:schemeClr val="dk1"/>
              </a:solidFill>
              <a:latin typeface="Calibri"/>
              <a:ea typeface="Calibri"/>
              <a:cs typeface="Calibri"/>
              <a:sym typeface="Calibri"/>
            </a:endParaRPr>
          </a:p>
        </p:txBody>
      </p:sp>
      <p:sp>
        <p:nvSpPr>
          <p:cNvPr id="166" name="Google Shape;166;p23"/>
          <p:cNvSpPr txBox="1"/>
          <p:nvPr/>
        </p:nvSpPr>
        <p:spPr>
          <a:xfrm>
            <a:off x="6794050" y="2999175"/>
            <a:ext cx="1381200" cy="31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Propagation velocity through the material</a:t>
            </a:r>
            <a:endParaRPr sz="1500">
              <a:solidFill>
                <a:schemeClr val="dk1"/>
              </a:solidFill>
              <a:latin typeface="Calibri"/>
              <a:ea typeface="Calibri"/>
              <a:cs typeface="Calibri"/>
              <a:sym typeface="Calibri"/>
            </a:endParaRPr>
          </a:p>
        </p:txBody>
      </p:sp>
      <p:sp>
        <p:nvSpPr>
          <p:cNvPr id="167" name="Google Shape;167;p23"/>
          <p:cNvSpPr txBox="1"/>
          <p:nvPr/>
        </p:nvSpPr>
        <p:spPr>
          <a:xfrm>
            <a:off x="6831000" y="4123450"/>
            <a:ext cx="2306400" cy="33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latin typeface="Calibri"/>
                <a:ea typeface="Calibri"/>
                <a:cs typeface="Calibri"/>
                <a:sym typeface="Calibri"/>
              </a:rPr>
              <a:t>C propagation velocity in free space</a:t>
            </a:r>
            <a:endParaRPr sz="11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latin typeface="Calibri"/>
              <a:ea typeface="Calibri"/>
              <a:cs typeface="Calibri"/>
              <a:sym typeface="Calibri"/>
            </a:endParaRPr>
          </a:p>
        </p:txBody>
      </p:sp>
      <p:pic>
        <p:nvPicPr>
          <p:cNvPr id="168" name="Google Shape;168;p23" title="Captura de pantalla 2025-04-23 145438.png"/>
          <p:cNvPicPr preferRelativeResize="0"/>
          <p:nvPr/>
        </p:nvPicPr>
        <p:blipFill>
          <a:blip r:embed="rId7">
            <a:alphaModFix/>
          </a:blip>
          <a:stretch>
            <a:fillRect/>
          </a:stretch>
        </p:blipFill>
        <p:spPr>
          <a:xfrm>
            <a:off x="6897800" y="4481408"/>
            <a:ext cx="188800" cy="205217"/>
          </a:xfrm>
          <a:prstGeom prst="rect">
            <a:avLst/>
          </a:prstGeom>
          <a:noFill/>
          <a:ln>
            <a:noFill/>
          </a:ln>
        </p:spPr>
      </p:pic>
      <p:sp>
        <p:nvSpPr>
          <p:cNvPr id="169" name="Google Shape;169;p23"/>
          <p:cNvSpPr txBox="1"/>
          <p:nvPr/>
        </p:nvSpPr>
        <p:spPr>
          <a:xfrm>
            <a:off x="7093200" y="4390525"/>
            <a:ext cx="2121300" cy="24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100">
                <a:solidFill>
                  <a:schemeClr val="dk1"/>
                </a:solidFill>
                <a:latin typeface="Calibri"/>
                <a:ea typeface="Calibri"/>
                <a:cs typeface="Calibri"/>
                <a:sym typeface="Calibri"/>
              </a:rPr>
              <a:t>relative permittivity</a:t>
            </a:r>
            <a:endParaRPr sz="1100">
              <a:solidFill>
                <a:schemeClr val="dk1"/>
              </a:solidFill>
              <a:latin typeface="Calibri"/>
              <a:ea typeface="Calibri"/>
              <a:cs typeface="Calibri"/>
              <a:sym typeface="Calibri"/>
            </a:endParaRPr>
          </a:p>
        </p:txBody>
      </p:sp>
      <p:sp>
        <p:nvSpPr>
          <p:cNvPr id="170" name="Google Shape;170;p23"/>
          <p:cNvSpPr txBox="1"/>
          <p:nvPr/>
        </p:nvSpPr>
        <p:spPr>
          <a:xfrm>
            <a:off x="4142375" y="811400"/>
            <a:ext cx="3783000" cy="40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900">
                <a:solidFill>
                  <a:schemeClr val="dk1"/>
                </a:solidFill>
                <a:latin typeface="Calibri"/>
                <a:ea typeface="Calibri"/>
                <a:cs typeface="Calibri"/>
                <a:sym typeface="Calibri"/>
              </a:rPr>
              <a:t>Signal Shape → Amplitude &amp; time</a:t>
            </a:r>
            <a:endParaRPr sz="19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419" sz="2520">
                <a:latin typeface="Calibri"/>
                <a:ea typeface="Calibri"/>
                <a:cs typeface="Calibri"/>
                <a:sym typeface="Calibri"/>
              </a:rPr>
              <a:t>Point reflector → signal shape</a:t>
            </a:r>
            <a:endParaRPr sz="2520">
              <a:latin typeface="Calibri"/>
              <a:ea typeface="Calibri"/>
              <a:cs typeface="Calibri"/>
              <a:sym typeface="Calibri"/>
            </a:endParaRPr>
          </a:p>
          <a:p>
            <a:pPr indent="0" lvl="0" marL="0" rtl="0" algn="l">
              <a:spcBef>
                <a:spcPts val="0"/>
              </a:spcBef>
              <a:spcAft>
                <a:spcPts val="0"/>
              </a:spcAft>
              <a:buSzPts val="990"/>
              <a:buNone/>
            </a:pPr>
            <a:r>
              <a:t/>
            </a:r>
            <a:endParaRPr sz="2520">
              <a:latin typeface="Calibri"/>
              <a:ea typeface="Calibri"/>
              <a:cs typeface="Calibri"/>
              <a:sym typeface="Calibri"/>
            </a:endParaRPr>
          </a:p>
        </p:txBody>
      </p:sp>
      <p:sp>
        <p:nvSpPr>
          <p:cNvPr id="176" name="Google Shape;176;p24"/>
          <p:cNvSpPr txBox="1"/>
          <p:nvPr>
            <p:ph idx="1" type="body"/>
          </p:nvPr>
        </p:nvSpPr>
        <p:spPr>
          <a:xfrm>
            <a:off x="472700" y="972700"/>
            <a:ext cx="1506900" cy="5727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s-419" sz="1400">
                <a:solidFill>
                  <a:srgbClr val="3C78D8"/>
                </a:solidFill>
                <a:latin typeface="Calibri"/>
                <a:ea typeface="Calibri"/>
                <a:cs typeface="Calibri"/>
                <a:sym typeface="Calibri"/>
              </a:rPr>
              <a:t>Point Reflector</a:t>
            </a:r>
            <a:endParaRPr b="1" sz="1400">
              <a:solidFill>
                <a:srgbClr val="3C78D8"/>
              </a:solidFill>
              <a:latin typeface="Calibri"/>
              <a:ea typeface="Calibri"/>
              <a:cs typeface="Calibri"/>
              <a:sym typeface="Calibri"/>
            </a:endParaRPr>
          </a:p>
          <a:p>
            <a:pPr indent="0" lvl="0" marL="0" rtl="0" algn="l">
              <a:spcBef>
                <a:spcPts val="1200"/>
              </a:spcBef>
              <a:spcAft>
                <a:spcPts val="0"/>
              </a:spcAft>
              <a:buNone/>
            </a:pPr>
            <a:r>
              <a:t/>
            </a:r>
            <a:endParaRPr b="1"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b="1"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b="1"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b="1"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b="1" sz="1100">
              <a:solidFill>
                <a:schemeClr val="dk1"/>
              </a:solidFill>
              <a:latin typeface="Calibri"/>
              <a:ea typeface="Calibri"/>
              <a:cs typeface="Calibri"/>
              <a:sym typeface="Calibri"/>
            </a:endParaRPr>
          </a:p>
          <a:p>
            <a:pPr indent="0" lvl="0" marL="457200" rtl="0" algn="l">
              <a:spcBef>
                <a:spcPts val="1200"/>
              </a:spcBef>
              <a:spcAft>
                <a:spcPts val="0"/>
              </a:spcAft>
              <a:buNone/>
            </a:pPr>
            <a:r>
              <a:rPr b="1" lang="es-419" sz="1100">
                <a:solidFill>
                  <a:schemeClr val="dk1"/>
                </a:solidFill>
                <a:latin typeface="Calibri"/>
                <a:ea typeface="Calibri"/>
                <a:cs typeface="Calibri"/>
                <a:sym typeface="Calibri"/>
              </a:rPr>
              <a:t>		</a:t>
            </a:r>
            <a:endParaRPr b="1"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b="1" sz="1100">
              <a:solidFill>
                <a:schemeClr val="dk1"/>
              </a:solidFill>
              <a:highlight>
                <a:schemeClr val="lt1"/>
              </a:highlight>
              <a:latin typeface="Calibri"/>
              <a:ea typeface="Calibri"/>
              <a:cs typeface="Calibri"/>
              <a:sym typeface="Calibri"/>
            </a:endParaRPr>
          </a:p>
          <a:p>
            <a:pPr indent="0" lvl="0" marL="457200" rtl="0" algn="l">
              <a:spcBef>
                <a:spcPts val="1200"/>
              </a:spcBef>
              <a:spcAft>
                <a:spcPts val="1200"/>
              </a:spcAft>
              <a:buNone/>
            </a:pPr>
            <a:r>
              <a:t/>
            </a:r>
            <a:endParaRPr b="1" sz="800">
              <a:solidFill>
                <a:schemeClr val="dk1"/>
              </a:solidFill>
              <a:latin typeface="Calibri"/>
              <a:ea typeface="Calibri"/>
              <a:cs typeface="Calibri"/>
              <a:sym typeface="Calibri"/>
            </a:endParaRPr>
          </a:p>
        </p:txBody>
      </p:sp>
      <p:sp>
        <p:nvSpPr>
          <p:cNvPr id="177" name="Google Shape;177;p24"/>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178" name="Google Shape;178;p24"/>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pic>
        <p:nvPicPr>
          <p:cNvPr id="179" name="Google Shape;179;p24" title="Captura de pantalla 2025-04-23 131312.png"/>
          <p:cNvPicPr preferRelativeResize="0"/>
          <p:nvPr/>
        </p:nvPicPr>
        <p:blipFill>
          <a:blip r:embed="rId3">
            <a:alphaModFix/>
          </a:blip>
          <a:stretch>
            <a:fillRect/>
          </a:stretch>
        </p:blipFill>
        <p:spPr>
          <a:xfrm>
            <a:off x="135250" y="1537995"/>
            <a:ext cx="2122325" cy="1632125"/>
          </a:xfrm>
          <a:prstGeom prst="rect">
            <a:avLst/>
          </a:prstGeom>
          <a:noFill/>
          <a:ln>
            <a:noFill/>
          </a:ln>
        </p:spPr>
      </p:pic>
      <p:pic>
        <p:nvPicPr>
          <p:cNvPr id="180" name="Google Shape;180;p24" title="Captura de pantalla 2025-04-23 131337.png"/>
          <p:cNvPicPr preferRelativeResize="0"/>
          <p:nvPr/>
        </p:nvPicPr>
        <p:blipFill>
          <a:blip r:embed="rId4">
            <a:alphaModFix/>
          </a:blip>
          <a:stretch>
            <a:fillRect/>
          </a:stretch>
        </p:blipFill>
        <p:spPr>
          <a:xfrm>
            <a:off x="2609250" y="1538000"/>
            <a:ext cx="1890175" cy="2009950"/>
          </a:xfrm>
          <a:prstGeom prst="rect">
            <a:avLst/>
          </a:prstGeom>
          <a:noFill/>
          <a:ln>
            <a:noFill/>
          </a:ln>
        </p:spPr>
      </p:pic>
      <p:sp>
        <p:nvSpPr>
          <p:cNvPr id="181" name="Google Shape;181;p24"/>
          <p:cNvSpPr txBox="1"/>
          <p:nvPr>
            <p:ph idx="1" type="body"/>
          </p:nvPr>
        </p:nvSpPr>
        <p:spPr>
          <a:xfrm>
            <a:off x="2539375" y="972700"/>
            <a:ext cx="1847100" cy="7485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s-419" sz="1400">
                <a:solidFill>
                  <a:schemeClr val="dk1"/>
                </a:solidFill>
                <a:latin typeface="Calibri"/>
                <a:ea typeface="Calibri"/>
                <a:cs typeface="Calibri"/>
                <a:sym typeface="Calibri"/>
              </a:rPr>
              <a:t>A Series of Traces</a:t>
            </a:r>
            <a:endParaRPr sz="14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457200" rtl="0" algn="l">
              <a:spcBef>
                <a:spcPts val="1200"/>
              </a:spcBef>
              <a:spcAft>
                <a:spcPts val="0"/>
              </a:spcAft>
              <a:buNone/>
            </a:pPr>
            <a:r>
              <a:rPr lang="es-419"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highlight>
                <a:schemeClr val="lt1"/>
              </a:highlight>
              <a:latin typeface="Calibri"/>
              <a:ea typeface="Calibri"/>
              <a:cs typeface="Calibri"/>
              <a:sym typeface="Calibri"/>
            </a:endParaRPr>
          </a:p>
          <a:p>
            <a:pPr indent="0" lvl="0" marL="457200" rtl="0" algn="l">
              <a:spcBef>
                <a:spcPts val="1200"/>
              </a:spcBef>
              <a:spcAft>
                <a:spcPts val="1200"/>
              </a:spcAft>
              <a:buNone/>
            </a:pPr>
            <a:r>
              <a:t/>
            </a:r>
            <a:endParaRPr sz="800">
              <a:solidFill>
                <a:schemeClr val="dk1"/>
              </a:solidFill>
              <a:latin typeface="Calibri"/>
              <a:ea typeface="Calibri"/>
              <a:cs typeface="Calibri"/>
              <a:sym typeface="Calibri"/>
            </a:endParaRPr>
          </a:p>
        </p:txBody>
      </p:sp>
      <p:sp>
        <p:nvSpPr>
          <p:cNvPr id="182" name="Google Shape;182;p24"/>
          <p:cNvSpPr txBox="1"/>
          <p:nvPr/>
        </p:nvSpPr>
        <p:spPr>
          <a:xfrm>
            <a:off x="5762213" y="1017713"/>
            <a:ext cx="2979600" cy="70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a:solidFill>
                  <a:schemeClr val="dk1"/>
                </a:solidFill>
                <a:latin typeface="Calibri"/>
                <a:ea typeface="Calibri"/>
                <a:cs typeface="Calibri"/>
                <a:sym typeface="Calibri"/>
              </a:rPr>
              <a:t>Line Scans (BScan, </a:t>
            </a:r>
            <a:r>
              <a:rPr b="1" lang="es-419">
                <a:solidFill>
                  <a:srgbClr val="3C78D8"/>
                </a:solidFill>
                <a:latin typeface="Calibri"/>
                <a:ea typeface="Calibri"/>
                <a:cs typeface="Calibri"/>
                <a:sym typeface="Calibri"/>
              </a:rPr>
              <a:t>Radargram</a:t>
            </a:r>
            <a:r>
              <a:rPr lang="es-419">
                <a:solidFill>
                  <a:schemeClr val="dk1"/>
                </a:solidFill>
                <a:latin typeface="Calibri"/>
                <a:ea typeface="Calibri"/>
                <a:cs typeface="Calibri"/>
                <a:sym typeface="Calibri"/>
              </a:rPr>
              <a:t>)</a:t>
            </a:r>
            <a:endParaRPr>
              <a:solidFill>
                <a:schemeClr val="dk1"/>
              </a:solidFill>
              <a:latin typeface="Calibri"/>
              <a:ea typeface="Calibri"/>
              <a:cs typeface="Calibri"/>
              <a:sym typeface="Calibri"/>
            </a:endParaRPr>
          </a:p>
        </p:txBody>
      </p:sp>
      <p:pic>
        <p:nvPicPr>
          <p:cNvPr id="183" name="Google Shape;183;p24" title="Ground-penetrating radar wave propagation in sand and clay..mp4">
            <a:hlinkClick r:id="rId5"/>
          </p:cNvPr>
          <p:cNvPicPr preferRelativeResize="0"/>
          <p:nvPr/>
        </p:nvPicPr>
        <p:blipFill>
          <a:blip r:embed="rId6">
            <a:alphaModFix/>
          </a:blip>
          <a:stretch>
            <a:fillRect/>
          </a:stretch>
        </p:blipFill>
        <p:spPr>
          <a:xfrm>
            <a:off x="5728450" y="1373050"/>
            <a:ext cx="2000839" cy="3565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1000"/>
                                        <p:tgtEl>
                                          <p:spTgt spid="1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419" sz="2320">
                <a:latin typeface="Calibri"/>
                <a:ea typeface="Calibri"/>
                <a:cs typeface="Calibri"/>
                <a:sym typeface="Calibri"/>
              </a:rPr>
              <a:t>Point reflector → </a:t>
            </a:r>
            <a:r>
              <a:rPr lang="es-419" sz="1720">
                <a:latin typeface="Calibri"/>
                <a:ea typeface="Calibri"/>
                <a:cs typeface="Calibri"/>
                <a:sym typeface="Calibri"/>
              </a:rPr>
              <a:t>effects when the conductivity of medium changes  </a:t>
            </a:r>
            <a:endParaRPr sz="1720">
              <a:latin typeface="Calibri"/>
              <a:ea typeface="Calibri"/>
              <a:cs typeface="Calibri"/>
              <a:sym typeface="Calibri"/>
            </a:endParaRPr>
          </a:p>
          <a:p>
            <a:pPr indent="0" lvl="0" marL="0" rtl="0" algn="l">
              <a:spcBef>
                <a:spcPts val="0"/>
              </a:spcBef>
              <a:spcAft>
                <a:spcPts val="0"/>
              </a:spcAft>
              <a:buSzPts val="990"/>
              <a:buNone/>
            </a:pPr>
            <a:r>
              <a:t/>
            </a:r>
            <a:endParaRPr sz="2520">
              <a:latin typeface="Calibri"/>
              <a:ea typeface="Calibri"/>
              <a:cs typeface="Calibri"/>
              <a:sym typeface="Calibri"/>
            </a:endParaRPr>
          </a:p>
        </p:txBody>
      </p:sp>
      <p:sp>
        <p:nvSpPr>
          <p:cNvPr id="189" name="Google Shape;189;p25"/>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190" name="Google Shape;190;p25"/>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pic>
        <p:nvPicPr>
          <p:cNvPr id="191" name="Google Shape;191;p25" title="atenuacion.mp4">
            <a:hlinkClick r:id="rId3"/>
          </p:cNvPr>
          <p:cNvPicPr preferRelativeResize="0"/>
          <p:nvPr/>
        </p:nvPicPr>
        <p:blipFill>
          <a:blip r:embed="rId4">
            <a:alphaModFix/>
          </a:blip>
          <a:stretch>
            <a:fillRect/>
          </a:stretch>
        </p:blipFill>
        <p:spPr>
          <a:xfrm>
            <a:off x="1219750" y="1152550"/>
            <a:ext cx="6429110" cy="3616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1000"/>
                                        <p:tgtEl>
                                          <p:spTgt spid="1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419" sz="2520">
                <a:latin typeface="Calibri"/>
                <a:ea typeface="Calibri"/>
                <a:cs typeface="Calibri"/>
                <a:sym typeface="Calibri"/>
              </a:rPr>
              <a:t>Line Reflector → signal shape</a:t>
            </a:r>
            <a:endParaRPr sz="2520">
              <a:latin typeface="Calibri"/>
              <a:ea typeface="Calibri"/>
              <a:cs typeface="Calibri"/>
              <a:sym typeface="Calibri"/>
            </a:endParaRPr>
          </a:p>
          <a:p>
            <a:pPr indent="0" lvl="0" marL="0" rtl="0" algn="l">
              <a:spcBef>
                <a:spcPts val="0"/>
              </a:spcBef>
              <a:spcAft>
                <a:spcPts val="0"/>
              </a:spcAft>
              <a:buSzPts val="990"/>
              <a:buNone/>
            </a:pPr>
            <a:r>
              <a:t/>
            </a:r>
            <a:endParaRPr sz="2520">
              <a:latin typeface="Calibri"/>
              <a:ea typeface="Calibri"/>
              <a:cs typeface="Calibri"/>
              <a:sym typeface="Calibri"/>
            </a:endParaRPr>
          </a:p>
        </p:txBody>
      </p:sp>
      <p:sp>
        <p:nvSpPr>
          <p:cNvPr id="197" name="Google Shape;197;p26"/>
          <p:cNvSpPr txBox="1"/>
          <p:nvPr>
            <p:ph idx="1" type="body"/>
          </p:nvPr>
        </p:nvSpPr>
        <p:spPr>
          <a:xfrm>
            <a:off x="472700" y="972700"/>
            <a:ext cx="1506900" cy="5727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s-419" sz="1400">
                <a:solidFill>
                  <a:srgbClr val="3C78D8"/>
                </a:solidFill>
                <a:latin typeface="Calibri"/>
                <a:ea typeface="Calibri"/>
                <a:cs typeface="Calibri"/>
                <a:sym typeface="Calibri"/>
              </a:rPr>
              <a:t>horitzontal </a:t>
            </a:r>
            <a:r>
              <a:rPr b="1" lang="es-419" sz="1400">
                <a:solidFill>
                  <a:srgbClr val="3C78D8"/>
                </a:solidFill>
                <a:latin typeface="Calibri"/>
                <a:ea typeface="Calibri"/>
                <a:cs typeface="Calibri"/>
                <a:sym typeface="Calibri"/>
              </a:rPr>
              <a:t>Reflector</a:t>
            </a:r>
            <a:endParaRPr b="1" sz="1400">
              <a:solidFill>
                <a:srgbClr val="3C78D8"/>
              </a:solidFill>
              <a:latin typeface="Calibri"/>
              <a:ea typeface="Calibri"/>
              <a:cs typeface="Calibri"/>
              <a:sym typeface="Calibri"/>
            </a:endParaRPr>
          </a:p>
          <a:p>
            <a:pPr indent="0" lvl="0" marL="0" rtl="0" algn="l">
              <a:spcBef>
                <a:spcPts val="1200"/>
              </a:spcBef>
              <a:spcAft>
                <a:spcPts val="0"/>
              </a:spcAft>
              <a:buNone/>
            </a:pPr>
            <a:r>
              <a:t/>
            </a:r>
            <a:endParaRPr b="1"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b="1"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b="1"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b="1"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b="1" sz="1100">
              <a:solidFill>
                <a:schemeClr val="dk1"/>
              </a:solidFill>
              <a:latin typeface="Calibri"/>
              <a:ea typeface="Calibri"/>
              <a:cs typeface="Calibri"/>
              <a:sym typeface="Calibri"/>
            </a:endParaRPr>
          </a:p>
          <a:p>
            <a:pPr indent="0" lvl="0" marL="457200" rtl="0" algn="l">
              <a:spcBef>
                <a:spcPts val="1200"/>
              </a:spcBef>
              <a:spcAft>
                <a:spcPts val="0"/>
              </a:spcAft>
              <a:buNone/>
            </a:pPr>
            <a:r>
              <a:rPr b="1" lang="es-419" sz="1100">
                <a:solidFill>
                  <a:schemeClr val="dk1"/>
                </a:solidFill>
                <a:latin typeface="Calibri"/>
                <a:ea typeface="Calibri"/>
                <a:cs typeface="Calibri"/>
                <a:sym typeface="Calibri"/>
              </a:rPr>
              <a:t>		</a:t>
            </a:r>
            <a:endParaRPr b="1"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b="1" sz="1100">
              <a:solidFill>
                <a:schemeClr val="dk1"/>
              </a:solidFill>
              <a:highlight>
                <a:schemeClr val="lt1"/>
              </a:highlight>
              <a:latin typeface="Calibri"/>
              <a:ea typeface="Calibri"/>
              <a:cs typeface="Calibri"/>
              <a:sym typeface="Calibri"/>
            </a:endParaRPr>
          </a:p>
          <a:p>
            <a:pPr indent="0" lvl="0" marL="457200" rtl="0" algn="l">
              <a:spcBef>
                <a:spcPts val="1200"/>
              </a:spcBef>
              <a:spcAft>
                <a:spcPts val="1200"/>
              </a:spcAft>
              <a:buNone/>
            </a:pPr>
            <a:r>
              <a:t/>
            </a:r>
            <a:endParaRPr b="1" sz="800">
              <a:solidFill>
                <a:schemeClr val="dk1"/>
              </a:solidFill>
              <a:latin typeface="Calibri"/>
              <a:ea typeface="Calibri"/>
              <a:cs typeface="Calibri"/>
              <a:sym typeface="Calibri"/>
            </a:endParaRPr>
          </a:p>
        </p:txBody>
      </p:sp>
      <p:sp>
        <p:nvSpPr>
          <p:cNvPr id="198" name="Google Shape;198;p26"/>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199" name="Google Shape;199;p26"/>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sp>
        <p:nvSpPr>
          <p:cNvPr id="200" name="Google Shape;200;p26"/>
          <p:cNvSpPr txBox="1"/>
          <p:nvPr>
            <p:ph idx="1" type="body"/>
          </p:nvPr>
        </p:nvSpPr>
        <p:spPr>
          <a:xfrm>
            <a:off x="2539375" y="972700"/>
            <a:ext cx="1847100" cy="7485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s-419" sz="1400">
                <a:solidFill>
                  <a:schemeClr val="dk1"/>
                </a:solidFill>
                <a:latin typeface="Calibri"/>
                <a:ea typeface="Calibri"/>
                <a:cs typeface="Calibri"/>
                <a:sym typeface="Calibri"/>
              </a:rPr>
              <a:t>A Series of Traces</a:t>
            </a:r>
            <a:endParaRPr sz="14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457200" rtl="0" algn="l">
              <a:spcBef>
                <a:spcPts val="1200"/>
              </a:spcBef>
              <a:spcAft>
                <a:spcPts val="0"/>
              </a:spcAft>
              <a:buNone/>
            </a:pPr>
            <a:r>
              <a:rPr lang="es-419"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highlight>
                <a:schemeClr val="lt1"/>
              </a:highlight>
              <a:latin typeface="Calibri"/>
              <a:ea typeface="Calibri"/>
              <a:cs typeface="Calibri"/>
              <a:sym typeface="Calibri"/>
            </a:endParaRPr>
          </a:p>
          <a:p>
            <a:pPr indent="0" lvl="0" marL="457200" rtl="0" algn="l">
              <a:spcBef>
                <a:spcPts val="1200"/>
              </a:spcBef>
              <a:spcAft>
                <a:spcPts val="1200"/>
              </a:spcAft>
              <a:buNone/>
            </a:pPr>
            <a:r>
              <a:t/>
            </a:r>
            <a:endParaRPr sz="800">
              <a:solidFill>
                <a:schemeClr val="dk1"/>
              </a:solidFill>
              <a:latin typeface="Calibri"/>
              <a:ea typeface="Calibri"/>
              <a:cs typeface="Calibri"/>
              <a:sym typeface="Calibri"/>
            </a:endParaRPr>
          </a:p>
        </p:txBody>
      </p:sp>
      <p:pic>
        <p:nvPicPr>
          <p:cNvPr id="201" name="Google Shape;201;p26" title="Captura de pantalla 2025-04-23 131417.png"/>
          <p:cNvPicPr preferRelativeResize="0"/>
          <p:nvPr/>
        </p:nvPicPr>
        <p:blipFill>
          <a:blip r:embed="rId3">
            <a:alphaModFix/>
          </a:blip>
          <a:stretch>
            <a:fillRect/>
          </a:stretch>
        </p:blipFill>
        <p:spPr>
          <a:xfrm>
            <a:off x="182125" y="1538000"/>
            <a:ext cx="2107500" cy="1697700"/>
          </a:xfrm>
          <a:prstGeom prst="rect">
            <a:avLst/>
          </a:prstGeom>
          <a:noFill/>
          <a:ln>
            <a:noFill/>
          </a:ln>
        </p:spPr>
      </p:pic>
      <p:pic>
        <p:nvPicPr>
          <p:cNvPr id="202" name="Google Shape;202;p26" title="Captura de pantalla 2025-04-23 131436.png"/>
          <p:cNvPicPr preferRelativeResize="0"/>
          <p:nvPr/>
        </p:nvPicPr>
        <p:blipFill>
          <a:blip r:embed="rId4">
            <a:alphaModFix/>
          </a:blip>
          <a:stretch>
            <a:fillRect/>
          </a:stretch>
        </p:blipFill>
        <p:spPr>
          <a:xfrm>
            <a:off x="2580000" y="1507725"/>
            <a:ext cx="1919000" cy="21280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s-419" sz="2520">
                <a:latin typeface="Calibri"/>
                <a:ea typeface="Calibri"/>
                <a:cs typeface="Calibri"/>
                <a:sym typeface="Calibri"/>
              </a:rPr>
              <a:t>Antenna Frequency</a:t>
            </a:r>
            <a:endParaRPr sz="2520">
              <a:latin typeface="Calibri"/>
              <a:ea typeface="Calibri"/>
              <a:cs typeface="Calibri"/>
              <a:sym typeface="Calibri"/>
            </a:endParaRPr>
          </a:p>
        </p:txBody>
      </p:sp>
      <p:sp>
        <p:nvSpPr>
          <p:cNvPr id="208" name="Google Shape;208;p27"/>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209" name="Google Shape;209;p27"/>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pic>
        <p:nvPicPr>
          <p:cNvPr id="210" name="Google Shape;210;p27" title="Captura de pantalla 2025-04-22 161455.png"/>
          <p:cNvPicPr preferRelativeResize="0"/>
          <p:nvPr/>
        </p:nvPicPr>
        <p:blipFill>
          <a:blip r:embed="rId3">
            <a:alphaModFix/>
          </a:blip>
          <a:stretch>
            <a:fillRect/>
          </a:stretch>
        </p:blipFill>
        <p:spPr>
          <a:xfrm>
            <a:off x="196025" y="1078525"/>
            <a:ext cx="5489267" cy="3616374"/>
          </a:xfrm>
          <a:prstGeom prst="rect">
            <a:avLst/>
          </a:prstGeom>
          <a:noFill/>
          <a:ln>
            <a:noFill/>
          </a:ln>
        </p:spPr>
      </p:pic>
      <p:sp>
        <p:nvSpPr>
          <p:cNvPr id="211" name="Google Shape;211;p27"/>
          <p:cNvSpPr txBox="1"/>
          <p:nvPr>
            <p:ph idx="1" type="body"/>
          </p:nvPr>
        </p:nvSpPr>
        <p:spPr>
          <a:xfrm>
            <a:off x="5685300" y="990050"/>
            <a:ext cx="3242700" cy="14625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419" sz="1200">
                <a:solidFill>
                  <a:schemeClr val="dk1"/>
                </a:solidFill>
                <a:latin typeface="Calibri"/>
                <a:ea typeface="Calibri"/>
                <a:cs typeface="Calibri"/>
                <a:sym typeface="Calibri"/>
              </a:rPr>
              <a:t>Low Frequency</a:t>
            </a:r>
            <a:endParaRPr b="1" sz="1200">
              <a:solidFill>
                <a:schemeClr val="dk1"/>
              </a:solidFill>
              <a:latin typeface="Calibri"/>
              <a:ea typeface="Calibri"/>
              <a:cs typeface="Calibri"/>
              <a:sym typeface="Calibri"/>
            </a:endParaRPr>
          </a:p>
          <a:p>
            <a:pPr indent="-304800" lvl="0" marL="457200" rtl="0" algn="l">
              <a:spcBef>
                <a:spcPts val="1200"/>
              </a:spcBef>
              <a:spcAft>
                <a:spcPts val="0"/>
              </a:spcAft>
              <a:buClr>
                <a:schemeClr val="dk1"/>
              </a:buClr>
              <a:buSzPts val="1200"/>
              <a:buFont typeface="Calibri"/>
              <a:buChar char="●"/>
            </a:pPr>
            <a:r>
              <a:rPr lang="es-419" sz="1200">
                <a:solidFill>
                  <a:schemeClr val="dk1"/>
                </a:solidFill>
                <a:latin typeface="Calibri"/>
                <a:ea typeface="Calibri"/>
                <a:cs typeface="Calibri"/>
                <a:sym typeface="Calibri"/>
              </a:rPr>
              <a:t>12.5 -200 MHz</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s-419" sz="1200">
                <a:solidFill>
                  <a:schemeClr val="dk1"/>
                </a:solidFill>
                <a:latin typeface="Calibri"/>
                <a:ea typeface="Calibri"/>
                <a:cs typeface="Calibri"/>
                <a:sym typeface="Calibri"/>
              </a:rPr>
              <a:t>Long wavelength</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s-419" sz="1200">
                <a:solidFill>
                  <a:schemeClr val="dk1"/>
                </a:solidFill>
                <a:latin typeface="Calibri"/>
                <a:ea typeface="Calibri"/>
                <a:cs typeface="Calibri"/>
                <a:sym typeface="Calibri"/>
              </a:rPr>
              <a:t>Deep prospection (up to 150 feet deep)</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s-419" sz="1200">
                <a:solidFill>
                  <a:schemeClr val="dk1"/>
                </a:solidFill>
                <a:latin typeface="Calibri"/>
                <a:ea typeface="Calibri"/>
                <a:cs typeface="Calibri"/>
                <a:sym typeface="Calibri"/>
              </a:rPr>
              <a:t>Geological and geophysical applications</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457200" rtl="0" algn="l">
              <a:spcBef>
                <a:spcPts val="1200"/>
              </a:spcBef>
              <a:spcAft>
                <a:spcPts val="0"/>
              </a:spcAft>
              <a:buNone/>
            </a:pPr>
            <a:r>
              <a:rPr lang="es-419"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highlight>
                <a:schemeClr val="lt1"/>
              </a:highlight>
              <a:latin typeface="Calibri"/>
              <a:ea typeface="Calibri"/>
              <a:cs typeface="Calibri"/>
              <a:sym typeface="Calibri"/>
            </a:endParaRPr>
          </a:p>
          <a:p>
            <a:pPr indent="0" lvl="0" marL="457200" rtl="0" algn="l">
              <a:spcBef>
                <a:spcPts val="1200"/>
              </a:spcBef>
              <a:spcAft>
                <a:spcPts val="1200"/>
              </a:spcAft>
              <a:buNone/>
            </a:pPr>
            <a:r>
              <a:t/>
            </a:r>
            <a:endParaRPr sz="800">
              <a:solidFill>
                <a:schemeClr val="dk1"/>
              </a:solidFill>
              <a:latin typeface="Calibri"/>
              <a:ea typeface="Calibri"/>
              <a:cs typeface="Calibri"/>
              <a:sym typeface="Calibri"/>
            </a:endParaRPr>
          </a:p>
        </p:txBody>
      </p:sp>
      <p:sp>
        <p:nvSpPr>
          <p:cNvPr id="212" name="Google Shape;212;p27"/>
          <p:cNvSpPr txBox="1"/>
          <p:nvPr>
            <p:ph idx="1" type="body"/>
          </p:nvPr>
        </p:nvSpPr>
        <p:spPr>
          <a:xfrm>
            <a:off x="5685300" y="2692700"/>
            <a:ext cx="3306900" cy="14124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419" sz="1200">
                <a:solidFill>
                  <a:schemeClr val="dk1"/>
                </a:solidFill>
                <a:latin typeface="Calibri"/>
                <a:ea typeface="Calibri"/>
                <a:cs typeface="Calibri"/>
                <a:sym typeface="Calibri"/>
              </a:rPr>
              <a:t>High Frequency</a:t>
            </a:r>
            <a:endParaRPr b="1" sz="1200">
              <a:solidFill>
                <a:schemeClr val="dk1"/>
              </a:solidFill>
              <a:latin typeface="Calibri"/>
              <a:ea typeface="Calibri"/>
              <a:cs typeface="Calibri"/>
              <a:sym typeface="Calibri"/>
            </a:endParaRPr>
          </a:p>
          <a:p>
            <a:pPr indent="-304800" lvl="0" marL="457200" rtl="0" algn="l">
              <a:spcBef>
                <a:spcPts val="1200"/>
              </a:spcBef>
              <a:spcAft>
                <a:spcPts val="0"/>
              </a:spcAft>
              <a:buClr>
                <a:schemeClr val="dk1"/>
              </a:buClr>
              <a:buSzPts val="1200"/>
              <a:buFont typeface="Calibri"/>
              <a:buChar char="●"/>
            </a:pPr>
            <a:r>
              <a:rPr lang="es-419" sz="1200">
                <a:solidFill>
                  <a:schemeClr val="dk1"/>
                </a:solidFill>
                <a:latin typeface="Calibri"/>
                <a:ea typeface="Calibri"/>
                <a:cs typeface="Calibri"/>
                <a:sym typeface="Calibri"/>
              </a:rPr>
              <a:t>800-2600 MHz</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s-419" sz="1200">
                <a:solidFill>
                  <a:schemeClr val="dk1"/>
                </a:solidFill>
                <a:latin typeface="Calibri"/>
                <a:ea typeface="Calibri"/>
                <a:cs typeface="Calibri"/>
                <a:sym typeface="Calibri"/>
              </a:rPr>
              <a:t>Short wavelength</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s-419" sz="1200">
                <a:solidFill>
                  <a:schemeClr val="dk1"/>
                </a:solidFill>
                <a:latin typeface="Calibri"/>
                <a:ea typeface="Calibri"/>
                <a:cs typeface="Calibri"/>
                <a:sym typeface="Calibri"/>
              </a:rPr>
              <a:t>Shallow prospection (as little as 12 inches)</a:t>
            </a:r>
            <a:endParaRPr sz="1200">
              <a:solidFill>
                <a:schemeClr val="dk1"/>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s-419" sz="1200">
                <a:solidFill>
                  <a:schemeClr val="dk1"/>
                </a:solidFill>
                <a:latin typeface="Calibri"/>
                <a:ea typeface="Calibri"/>
                <a:cs typeface="Calibri"/>
                <a:sym typeface="Calibri"/>
              </a:rPr>
              <a:t>Concrete scanning and utility locating</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457200" rtl="0" algn="l">
              <a:spcBef>
                <a:spcPts val="1200"/>
              </a:spcBef>
              <a:spcAft>
                <a:spcPts val="0"/>
              </a:spcAft>
              <a:buNone/>
            </a:pPr>
            <a:r>
              <a:rPr lang="es-419"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highlight>
                <a:schemeClr val="lt1"/>
              </a:highlight>
              <a:latin typeface="Calibri"/>
              <a:ea typeface="Calibri"/>
              <a:cs typeface="Calibri"/>
              <a:sym typeface="Calibri"/>
            </a:endParaRPr>
          </a:p>
          <a:p>
            <a:pPr indent="0" lvl="0" marL="457200" rtl="0" algn="l">
              <a:spcBef>
                <a:spcPts val="1200"/>
              </a:spcBef>
              <a:spcAft>
                <a:spcPts val="1200"/>
              </a:spcAft>
              <a:buNone/>
            </a:pPr>
            <a:r>
              <a:t/>
            </a:r>
            <a:endParaRPr sz="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latin typeface="Calibri"/>
                <a:ea typeface="Calibri"/>
                <a:cs typeface="Calibri"/>
                <a:sym typeface="Calibri"/>
              </a:rPr>
              <a:t>Every Material has a Dielectric Constant (K)</a:t>
            </a:r>
            <a:endParaRPr>
              <a:latin typeface="Calibri"/>
              <a:ea typeface="Calibri"/>
              <a:cs typeface="Calibri"/>
              <a:sym typeface="Calibri"/>
            </a:endParaRPr>
          </a:p>
        </p:txBody>
      </p:sp>
      <p:sp>
        <p:nvSpPr>
          <p:cNvPr id="218" name="Google Shape;218;p28"/>
          <p:cNvSpPr txBox="1"/>
          <p:nvPr>
            <p:ph idx="1" type="body"/>
          </p:nvPr>
        </p:nvSpPr>
        <p:spPr>
          <a:xfrm>
            <a:off x="311700" y="1152475"/>
            <a:ext cx="8520600" cy="34164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457200" rtl="0" algn="l">
              <a:spcBef>
                <a:spcPts val="1200"/>
              </a:spcBef>
              <a:spcAft>
                <a:spcPts val="0"/>
              </a:spcAft>
              <a:buNone/>
            </a:pPr>
            <a:r>
              <a:rPr lang="es-419"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highlight>
                <a:schemeClr val="lt1"/>
              </a:highlight>
              <a:latin typeface="Calibri"/>
              <a:ea typeface="Calibri"/>
              <a:cs typeface="Calibri"/>
              <a:sym typeface="Calibri"/>
            </a:endParaRPr>
          </a:p>
          <a:p>
            <a:pPr indent="0" lvl="0" marL="457200" rtl="0" algn="l">
              <a:spcBef>
                <a:spcPts val="1200"/>
              </a:spcBef>
              <a:spcAft>
                <a:spcPts val="1200"/>
              </a:spcAft>
              <a:buNone/>
            </a:pPr>
            <a:r>
              <a:t/>
            </a:r>
            <a:endParaRPr sz="800">
              <a:solidFill>
                <a:schemeClr val="dk1"/>
              </a:solidFill>
              <a:latin typeface="Calibri"/>
              <a:ea typeface="Calibri"/>
              <a:cs typeface="Calibri"/>
              <a:sym typeface="Calibri"/>
            </a:endParaRPr>
          </a:p>
        </p:txBody>
      </p:sp>
      <p:sp>
        <p:nvSpPr>
          <p:cNvPr id="219" name="Google Shape;219;p28"/>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220" name="Google Shape;220;p28"/>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pic>
        <p:nvPicPr>
          <p:cNvPr id="221" name="Google Shape;221;p28" title="Captura de pantalla 2025-04-22 182537.png"/>
          <p:cNvPicPr preferRelativeResize="0"/>
          <p:nvPr/>
        </p:nvPicPr>
        <p:blipFill>
          <a:blip r:embed="rId3">
            <a:alphaModFix/>
          </a:blip>
          <a:stretch>
            <a:fillRect/>
          </a:stretch>
        </p:blipFill>
        <p:spPr>
          <a:xfrm>
            <a:off x="609100" y="1245675"/>
            <a:ext cx="1716425" cy="3323199"/>
          </a:xfrm>
          <a:prstGeom prst="rect">
            <a:avLst/>
          </a:prstGeom>
          <a:noFill/>
          <a:ln>
            <a:noFill/>
          </a:ln>
        </p:spPr>
      </p:pic>
      <p:pic>
        <p:nvPicPr>
          <p:cNvPr id="222" name="Google Shape;222;p28" title="Captura de pantalla 2025-04-22 160446.png"/>
          <p:cNvPicPr preferRelativeResize="0"/>
          <p:nvPr/>
        </p:nvPicPr>
        <p:blipFill>
          <a:blip r:embed="rId4">
            <a:alphaModFix/>
          </a:blip>
          <a:stretch>
            <a:fillRect/>
          </a:stretch>
        </p:blipFill>
        <p:spPr>
          <a:xfrm>
            <a:off x="3255850" y="1373538"/>
            <a:ext cx="4595374" cy="23964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latin typeface="Calibri"/>
                <a:ea typeface="Calibri"/>
                <a:cs typeface="Calibri"/>
                <a:sym typeface="Calibri"/>
              </a:rPr>
              <a:t>The </a:t>
            </a:r>
            <a:r>
              <a:rPr lang="es-419">
                <a:latin typeface="Calibri"/>
                <a:ea typeface="Calibri"/>
                <a:cs typeface="Calibri"/>
                <a:sym typeface="Calibri"/>
              </a:rPr>
              <a:t>Dielectric Constant (K) affects the wave velocity</a:t>
            </a:r>
            <a:endParaRPr>
              <a:latin typeface="Calibri"/>
              <a:ea typeface="Calibri"/>
              <a:cs typeface="Calibri"/>
              <a:sym typeface="Calibri"/>
            </a:endParaRPr>
          </a:p>
        </p:txBody>
      </p:sp>
      <p:sp>
        <p:nvSpPr>
          <p:cNvPr id="228" name="Google Shape;228;p29"/>
          <p:cNvSpPr txBox="1"/>
          <p:nvPr>
            <p:ph idx="1" type="body"/>
          </p:nvPr>
        </p:nvSpPr>
        <p:spPr>
          <a:xfrm>
            <a:off x="311700" y="1152475"/>
            <a:ext cx="8520600" cy="34164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457200" rtl="0" algn="l">
              <a:spcBef>
                <a:spcPts val="1200"/>
              </a:spcBef>
              <a:spcAft>
                <a:spcPts val="0"/>
              </a:spcAft>
              <a:buNone/>
            </a:pPr>
            <a:r>
              <a:rPr lang="es-419"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highlight>
                <a:schemeClr val="lt1"/>
              </a:highlight>
              <a:latin typeface="Calibri"/>
              <a:ea typeface="Calibri"/>
              <a:cs typeface="Calibri"/>
              <a:sym typeface="Calibri"/>
            </a:endParaRPr>
          </a:p>
          <a:p>
            <a:pPr indent="0" lvl="0" marL="457200" rtl="0" algn="l">
              <a:spcBef>
                <a:spcPts val="1200"/>
              </a:spcBef>
              <a:spcAft>
                <a:spcPts val="1200"/>
              </a:spcAft>
              <a:buNone/>
            </a:pPr>
            <a:r>
              <a:t/>
            </a:r>
            <a:endParaRPr sz="800">
              <a:solidFill>
                <a:schemeClr val="dk1"/>
              </a:solidFill>
              <a:latin typeface="Calibri"/>
              <a:ea typeface="Calibri"/>
              <a:cs typeface="Calibri"/>
              <a:sym typeface="Calibri"/>
            </a:endParaRPr>
          </a:p>
        </p:txBody>
      </p:sp>
      <p:sp>
        <p:nvSpPr>
          <p:cNvPr id="229" name="Google Shape;229;p29"/>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230" name="Google Shape;230;p29"/>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pic>
        <p:nvPicPr>
          <p:cNvPr id="231" name="Google Shape;231;p29" title="Captura de pantalla 2025-04-22 182537.png"/>
          <p:cNvPicPr preferRelativeResize="0"/>
          <p:nvPr/>
        </p:nvPicPr>
        <p:blipFill>
          <a:blip r:embed="rId3">
            <a:alphaModFix/>
          </a:blip>
          <a:stretch>
            <a:fillRect/>
          </a:stretch>
        </p:blipFill>
        <p:spPr>
          <a:xfrm>
            <a:off x="609100" y="1245675"/>
            <a:ext cx="1716425" cy="3323199"/>
          </a:xfrm>
          <a:prstGeom prst="rect">
            <a:avLst/>
          </a:prstGeom>
          <a:noFill/>
          <a:ln>
            <a:noFill/>
          </a:ln>
        </p:spPr>
      </p:pic>
      <p:pic>
        <p:nvPicPr>
          <p:cNvPr id="232" name="Google Shape;232;p29" title="Vídeo sin título ‐ Hecho con Clipchamp (5).mp4">
            <a:hlinkClick r:id="rId4"/>
          </p:cNvPr>
          <p:cNvPicPr preferRelativeResize="0"/>
          <p:nvPr/>
        </p:nvPicPr>
        <p:blipFill>
          <a:blip r:embed="rId5">
            <a:alphaModFix/>
          </a:blip>
          <a:stretch>
            <a:fillRect/>
          </a:stretch>
        </p:blipFill>
        <p:spPr>
          <a:xfrm>
            <a:off x="3061100" y="1444925"/>
            <a:ext cx="4573749" cy="25767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1000"/>
                                        <p:tgtEl>
                                          <p:spTgt spid="2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latin typeface="Calibri"/>
                <a:ea typeface="Calibri"/>
                <a:cs typeface="Calibri"/>
                <a:sym typeface="Calibri"/>
              </a:rPr>
              <a:t>Reflections are created by contrasts</a:t>
            </a:r>
            <a:endParaRPr>
              <a:latin typeface="Calibri"/>
              <a:ea typeface="Calibri"/>
              <a:cs typeface="Calibri"/>
              <a:sym typeface="Calibri"/>
            </a:endParaRPr>
          </a:p>
        </p:txBody>
      </p:sp>
      <p:sp>
        <p:nvSpPr>
          <p:cNvPr id="238" name="Google Shape;238;p30"/>
          <p:cNvSpPr txBox="1"/>
          <p:nvPr>
            <p:ph idx="1" type="body"/>
          </p:nvPr>
        </p:nvSpPr>
        <p:spPr>
          <a:xfrm>
            <a:off x="311700" y="1152475"/>
            <a:ext cx="8520600" cy="34164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457200" rtl="0" algn="l">
              <a:spcBef>
                <a:spcPts val="1200"/>
              </a:spcBef>
              <a:spcAft>
                <a:spcPts val="0"/>
              </a:spcAft>
              <a:buNone/>
            </a:pPr>
            <a:r>
              <a:rPr lang="es-419"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highlight>
                <a:schemeClr val="lt1"/>
              </a:highlight>
              <a:latin typeface="Calibri"/>
              <a:ea typeface="Calibri"/>
              <a:cs typeface="Calibri"/>
              <a:sym typeface="Calibri"/>
            </a:endParaRPr>
          </a:p>
          <a:p>
            <a:pPr indent="0" lvl="0" marL="457200" rtl="0" algn="l">
              <a:spcBef>
                <a:spcPts val="1200"/>
              </a:spcBef>
              <a:spcAft>
                <a:spcPts val="1200"/>
              </a:spcAft>
              <a:buNone/>
            </a:pPr>
            <a:r>
              <a:t/>
            </a:r>
            <a:endParaRPr sz="800">
              <a:solidFill>
                <a:schemeClr val="dk1"/>
              </a:solidFill>
              <a:latin typeface="Calibri"/>
              <a:ea typeface="Calibri"/>
              <a:cs typeface="Calibri"/>
              <a:sym typeface="Calibri"/>
            </a:endParaRPr>
          </a:p>
        </p:txBody>
      </p:sp>
      <p:sp>
        <p:nvSpPr>
          <p:cNvPr id="239" name="Google Shape;239;p30"/>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240" name="Google Shape;240;p30"/>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pic>
        <p:nvPicPr>
          <p:cNvPr id="241" name="Google Shape;241;p30" title="Captura de pantalla 2025-04-22 175457.png"/>
          <p:cNvPicPr preferRelativeResize="0"/>
          <p:nvPr/>
        </p:nvPicPr>
        <p:blipFill>
          <a:blip r:embed="rId3">
            <a:alphaModFix/>
          </a:blip>
          <a:stretch>
            <a:fillRect/>
          </a:stretch>
        </p:blipFill>
        <p:spPr>
          <a:xfrm>
            <a:off x="1102499" y="1152485"/>
            <a:ext cx="6197325" cy="32661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latin typeface="Calibri"/>
                <a:ea typeface="Calibri"/>
                <a:cs typeface="Calibri"/>
                <a:sym typeface="Calibri"/>
              </a:rPr>
              <a:t>Reflections are created by contrasts</a:t>
            </a:r>
            <a:endParaRPr>
              <a:latin typeface="Calibri"/>
              <a:ea typeface="Calibri"/>
              <a:cs typeface="Calibri"/>
              <a:sym typeface="Calibri"/>
            </a:endParaRPr>
          </a:p>
        </p:txBody>
      </p:sp>
      <p:sp>
        <p:nvSpPr>
          <p:cNvPr id="247" name="Google Shape;247;p31"/>
          <p:cNvSpPr txBox="1"/>
          <p:nvPr>
            <p:ph idx="1" type="body"/>
          </p:nvPr>
        </p:nvSpPr>
        <p:spPr>
          <a:xfrm>
            <a:off x="311700" y="1152475"/>
            <a:ext cx="8520600" cy="34164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457200" rtl="0" algn="l">
              <a:spcBef>
                <a:spcPts val="1200"/>
              </a:spcBef>
              <a:spcAft>
                <a:spcPts val="0"/>
              </a:spcAft>
              <a:buNone/>
            </a:pPr>
            <a:r>
              <a:rPr lang="es-419"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highlight>
                <a:schemeClr val="lt1"/>
              </a:highlight>
              <a:latin typeface="Calibri"/>
              <a:ea typeface="Calibri"/>
              <a:cs typeface="Calibri"/>
              <a:sym typeface="Calibri"/>
            </a:endParaRPr>
          </a:p>
          <a:p>
            <a:pPr indent="0" lvl="0" marL="457200" rtl="0" algn="l">
              <a:spcBef>
                <a:spcPts val="1200"/>
              </a:spcBef>
              <a:spcAft>
                <a:spcPts val="1200"/>
              </a:spcAft>
              <a:buNone/>
            </a:pPr>
            <a:r>
              <a:t/>
            </a:r>
            <a:endParaRPr sz="800">
              <a:solidFill>
                <a:schemeClr val="dk1"/>
              </a:solidFill>
              <a:latin typeface="Calibri"/>
              <a:ea typeface="Calibri"/>
              <a:cs typeface="Calibri"/>
              <a:sym typeface="Calibri"/>
            </a:endParaRPr>
          </a:p>
        </p:txBody>
      </p:sp>
      <p:sp>
        <p:nvSpPr>
          <p:cNvPr id="248" name="Google Shape;248;p31"/>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249" name="Google Shape;249;p31"/>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pic>
        <p:nvPicPr>
          <p:cNvPr id="250" name="Google Shape;250;p31" title="Captura de pantalla 2025-04-22 175709.png"/>
          <p:cNvPicPr preferRelativeResize="0"/>
          <p:nvPr/>
        </p:nvPicPr>
        <p:blipFill>
          <a:blip r:embed="rId3">
            <a:alphaModFix/>
          </a:blip>
          <a:stretch>
            <a:fillRect/>
          </a:stretch>
        </p:blipFill>
        <p:spPr>
          <a:xfrm>
            <a:off x="1121650" y="1303950"/>
            <a:ext cx="6474626" cy="306270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latin typeface="Calibri"/>
                <a:ea typeface="Calibri"/>
                <a:cs typeface="Calibri"/>
                <a:sym typeface="Calibri"/>
              </a:rPr>
              <a:t>Reflection Strength depends on the contrast of materials</a:t>
            </a:r>
            <a:endParaRPr>
              <a:latin typeface="Calibri"/>
              <a:ea typeface="Calibri"/>
              <a:cs typeface="Calibri"/>
              <a:sym typeface="Calibri"/>
            </a:endParaRPr>
          </a:p>
        </p:txBody>
      </p:sp>
      <p:sp>
        <p:nvSpPr>
          <p:cNvPr id="256" name="Google Shape;256;p32"/>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257" name="Google Shape;257;p32"/>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graphicFrame>
        <p:nvGraphicFramePr>
          <p:cNvPr id="258" name="Google Shape;258;p32"/>
          <p:cNvGraphicFramePr/>
          <p:nvPr/>
        </p:nvGraphicFramePr>
        <p:xfrm>
          <a:off x="311700" y="1332050"/>
          <a:ext cx="3000000" cy="3000000"/>
        </p:xfrm>
        <a:graphic>
          <a:graphicData uri="http://schemas.openxmlformats.org/drawingml/2006/table">
            <a:tbl>
              <a:tblPr>
                <a:noFill/>
                <a:tableStyleId>{1ADA2F54-2538-4720-87F2-79A653811C8E}</a:tableStyleId>
              </a:tblPr>
              <a:tblGrid>
                <a:gridCol w="777475"/>
                <a:gridCol w="409125"/>
                <a:gridCol w="795550"/>
                <a:gridCol w="618925"/>
                <a:gridCol w="888175"/>
              </a:tblGrid>
              <a:tr h="416725">
                <a:tc>
                  <a:txBody>
                    <a:bodyPr/>
                    <a:lstStyle/>
                    <a:p>
                      <a:pPr indent="0" lvl="0" marL="0" rtl="0" algn="l">
                        <a:spcBef>
                          <a:spcPts val="0"/>
                        </a:spcBef>
                        <a:spcAft>
                          <a:spcPts val="0"/>
                        </a:spcAft>
                        <a:buNone/>
                      </a:pPr>
                      <a:r>
                        <a:rPr b="1" i="1" lang="es-419" sz="1000">
                          <a:latin typeface="Calibri"/>
                          <a:ea typeface="Calibri"/>
                          <a:cs typeface="Calibri"/>
                          <a:sym typeface="Calibri"/>
                        </a:rPr>
                        <a:t>Material 1</a:t>
                      </a:r>
                      <a:endParaRPr b="1" i="1"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i="1" lang="es-419" sz="1000">
                          <a:latin typeface="Calibri"/>
                          <a:ea typeface="Calibri"/>
                          <a:cs typeface="Calibri"/>
                          <a:sym typeface="Calibri"/>
                        </a:rPr>
                        <a:t>K1</a:t>
                      </a:r>
                      <a:endParaRPr b="1" i="1"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i="1" lang="es-419" sz="1000">
                          <a:solidFill>
                            <a:schemeClr val="dk1"/>
                          </a:solidFill>
                          <a:latin typeface="Calibri"/>
                          <a:ea typeface="Calibri"/>
                          <a:cs typeface="Calibri"/>
                          <a:sym typeface="Calibri"/>
                        </a:rPr>
                        <a:t>Material 2</a:t>
                      </a:r>
                      <a:endParaRPr b="1" i="1"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i="1" lang="es-419" sz="1000">
                          <a:latin typeface="Calibri"/>
                          <a:ea typeface="Calibri"/>
                          <a:cs typeface="Calibri"/>
                          <a:sym typeface="Calibri"/>
                        </a:rPr>
                        <a:t>K2</a:t>
                      </a:r>
                      <a:endParaRPr b="1" i="1"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i="1" lang="es-419" sz="1000">
                          <a:latin typeface="Calibri"/>
                          <a:ea typeface="Calibri"/>
                          <a:cs typeface="Calibri"/>
                          <a:sym typeface="Calibri"/>
                        </a:rPr>
                        <a:t>Reflectivity</a:t>
                      </a:r>
                      <a:endParaRPr b="1" i="1" sz="1000">
                        <a:latin typeface="Calibri"/>
                        <a:ea typeface="Calibri"/>
                        <a:cs typeface="Calibri"/>
                        <a:sym typeface="Calibri"/>
                      </a:endParaRPr>
                    </a:p>
                  </a:txBody>
                  <a:tcPr marT="91425" marB="91425" marR="91425" marL="91425"/>
                </a:tc>
              </a:tr>
              <a:tr h="416725">
                <a:tc>
                  <a:txBody>
                    <a:bodyPr/>
                    <a:lstStyle/>
                    <a:p>
                      <a:pPr indent="0" lvl="0" marL="0" rtl="0" algn="l">
                        <a:spcBef>
                          <a:spcPts val="0"/>
                        </a:spcBef>
                        <a:spcAft>
                          <a:spcPts val="0"/>
                        </a:spcAft>
                        <a:buNone/>
                      </a:pPr>
                      <a:r>
                        <a:rPr lang="es-419" sz="1000">
                          <a:latin typeface="Calibri"/>
                          <a:ea typeface="Calibri"/>
                          <a:cs typeface="Calibri"/>
                          <a:sym typeface="Calibri"/>
                        </a:rPr>
                        <a:t>Dr</a:t>
                      </a:r>
                      <a:r>
                        <a:rPr lang="es-419" sz="1000">
                          <a:latin typeface="Calibri"/>
                          <a:ea typeface="Calibri"/>
                          <a:cs typeface="Calibri"/>
                          <a:sym typeface="Calibri"/>
                        </a:rPr>
                        <a:t>y Sand</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5</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Rock</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6</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-5%</a:t>
                      </a:r>
                      <a:endParaRPr sz="1000">
                        <a:latin typeface="Calibri"/>
                        <a:ea typeface="Calibri"/>
                        <a:cs typeface="Calibri"/>
                        <a:sym typeface="Calibri"/>
                      </a:endParaRPr>
                    </a:p>
                  </a:txBody>
                  <a:tcPr marT="91425" marB="91425" marR="91425" marL="91425"/>
                </a:tc>
              </a:tr>
              <a:tr h="416725">
                <a:tc>
                  <a:txBody>
                    <a:bodyPr/>
                    <a:lstStyle/>
                    <a:p>
                      <a:pPr indent="0" lvl="0" marL="0" rtl="0" algn="l">
                        <a:spcBef>
                          <a:spcPts val="0"/>
                        </a:spcBef>
                        <a:spcAft>
                          <a:spcPts val="0"/>
                        </a:spcAft>
                        <a:buNone/>
                      </a:pPr>
                      <a:r>
                        <a:rPr lang="es-419" sz="1000">
                          <a:latin typeface="Calibri"/>
                          <a:ea typeface="Calibri"/>
                          <a:cs typeface="Calibri"/>
                          <a:sym typeface="Calibri"/>
                        </a:rPr>
                        <a:t>Wet Sand</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25</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Rock</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6</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34%</a:t>
                      </a:r>
                      <a:endParaRPr sz="1000">
                        <a:latin typeface="Calibri"/>
                        <a:ea typeface="Calibri"/>
                        <a:cs typeface="Calibri"/>
                        <a:sym typeface="Calibri"/>
                      </a:endParaRPr>
                    </a:p>
                  </a:txBody>
                  <a:tcPr marT="91425" marB="91425" marR="91425" marL="91425"/>
                </a:tc>
              </a:tr>
              <a:tr h="416725">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Dry Sand</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5</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Wet Sand</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25</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-38%</a:t>
                      </a:r>
                      <a:endParaRPr sz="1000">
                        <a:latin typeface="Calibri"/>
                        <a:ea typeface="Calibri"/>
                        <a:cs typeface="Calibri"/>
                        <a:sym typeface="Calibri"/>
                      </a:endParaRPr>
                    </a:p>
                  </a:txBody>
                  <a:tcPr marT="91425" marB="91425" marR="91425" marL="91425"/>
                </a:tc>
              </a:tr>
              <a:tr h="286500">
                <a:tc>
                  <a:txBody>
                    <a:bodyPr/>
                    <a:lstStyle/>
                    <a:p>
                      <a:pPr indent="0" lvl="0" marL="0" rtl="0" algn="l">
                        <a:spcBef>
                          <a:spcPts val="0"/>
                        </a:spcBef>
                        <a:spcAft>
                          <a:spcPts val="0"/>
                        </a:spcAft>
                        <a:buNone/>
                      </a:pPr>
                      <a:r>
                        <a:rPr lang="es-419" sz="1000">
                          <a:latin typeface="Calibri"/>
                          <a:ea typeface="Calibri"/>
                          <a:cs typeface="Calibri"/>
                          <a:sym typeface="Calibri"/>
                        </a:rPr>
                        <a:t>Rock</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6</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Air</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1</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42%</a:t>
                      </a:r>
                      <a:endParaRPr sz="1000">
                        <a:latin typeface="Calibri"/>
                        <a:ea typeface="Calibri"/>
                        <a:cs typeface="Calibri"/>
                        <a:sym typeface="Calibri"/>
                      </a:endParaRPr>
                    </a:p>
                  </a:txBody>
                  <a:tcPr marT="91425" marB="91425" marR="91425" marL="91425"/>
                </a:tc>
              </a:tr>
              <a:tr h="286500">
                <a:tc>
                  <a:txBody>
                    <a:bodyPr/>
                    <a:lstStyle/>
                    <a:p>
                      <a:pPr indent="0" lvl="0" marL="0" rtl="0" algn="l">
                        <a:spcBef>
                          <a:spcPts val="0"/>
                        </a:spcBef>
                        <a:spcAft>
                          <a:spcPts val="0"/>
                        </a:spcAft>
                        <a:buNone/>
                      </a:pPr>
                      <a:r>
                        <a:rPr lang="es-419" sz="1000">
                          <a:latin typeface="Calibri"/>
                          <a:ea typeface="Calibri"/>
                          <a:cs typeface="Calibri"/>
                          <a:sym typeface="Calibri"/>
                        </a:rPr>
                        <a:t>Water</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80</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Rock</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6</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57%</a:t>
                      </a:r>
                      <a:endParaRPr sz="1000">
                        <a:latin typeface="Calibri"/>
                        <a:ea typeface="Calibri"/>
                        <a:cs typeface="Calibri"/>
                        <a:sym typeface="Calibri"/>
                      </a:endParaRPr>
                    </a:p>
                  </a:txBody>
                  <a:tcPr marT="91425" marB="91425" marR="91425" marL="91425"/>
                </a:tc>
              </a:tr>
              <a:tr h="286500">
                <a:tc>
                  <a:txBody>
                    <a:bodyPr/>
                    <a:lstStyle/>
                    <a:p>
                      <a:pPr indent="0" lvl="0" marL="0" rtl="0" algn="l">
                        <a:spcBef>
                          <a:spcPts val="0"/>
                        </a:spcBef>
                        <a:spcAft>
                          <a:spcPts val="0"/>
                        </a:spcAft>
                        <a:buNone/>
                      </a:pPr>
                      <a:r>
                        <a:rPr lang="es-419" sz="1000">
                          <a:latin typeface="Calibri"/>
                          <a:ea typeface="Calibri"/>
                          <a:cs typeface="Calibri"/>
                          <a:sym typeface="Calibri"/>
                        </a:rPr>
                        <a:t>Ice</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3</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Water</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80</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67%</a:t>
                      </a:r>
                      <a:endParaRPr sz="1000">
                        <a:latin typeface="Calibri"/>
                        <a:ea typeface="Calibri"/>
                        <a:cs typeface="Calibri"/>
                        <a:sym typeface="Calibri"/>
                      </a:endParaRPr>
                    </a:p>
                  </a:txBody>
                  <a:tcPr marT="91425" marB="91425" marR="91425" marL="91425"/>
                </a:tc>
              </a:tr>
              <a:tr h="416725">
                <a:tc>
                  <a:txBody>
                    <a:bodyPr/>
                    <a:lstStyle/>
                    <a:p>
                      <a:pPr indent="0" lvl="0" marL="0" rtl="0" algn="l">
                        <a:spcBef>
                          <a:spcPts val="0"/>
                        </a:spcBef>
                        <a:spcAft>
                          <a:spcPts val="0"/>
                        </a:spcAft>
                        <a:buNone/>
                      </a:pPr>
                      <a:r>
                        <a:rPr lang="es-419" sz="1000">
                          <a:latin typeface="Calibri"/>
                          <a:ea typeface="Calibri"/>
                          <a:cs typeface="Calibri"/>
                          <a:sym typeface="Calibri"/>
                        </a:rPr>
                        <a:t>Soil</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12</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Metal</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infinito</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100%</a:t>
                      </a:r>
                      <a:endParaRPr sz="1000">
                        <a:latin typeface="Calibri"/>
                        <a:ea typeface="Calibri"/>
                        <a:cs typeface="Calibri"/>
                        <a:sym typeface="Calibri"/>
                      </a:endParaRPr>
                    </a:p>
                  </a:txBody>
                  <a:tcPr marT="91425" marB="91425" marR="91425" marL="91425"/>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latin typeface="Calibri"/>
                <a:ea typeface="Calibri"/>
                <a:cs typeface="Calibri"/>
                <a:sym typeface="Calibri"/>
              </a:rPr>
              <a:t>Reflection Strength depends on the contrast of materials</a:t>
            </a:r>
            <a:endParaRPr>
              <a:latin typeface="Calibri"/>
              <a:ea typeface="Calibri"/>
              <a:cs typeface="Calibri"/>
              <a:sym typeface="Calibri"/>
            </a:endParaRPr>
          </a:p>
        </p:txBody>
      </p:sp>
      <p:sp>
        <p:nvSpPr>
          <p:cNvPr id="264" name="Google Shape;264;p33"/>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265" name="Google Shape;265;p33"/>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graphicFrame>
        <p:nvGraphicFramePr>
          <p:cNvPr id="266" name="Google Shape;266;p33"/>
          <p:cNvGraphicFramePr/>
          <p:nvPr/>
        </p:nvGraphicFramePr>
        <p:xfrm>
          <a:off x="311700" y="1332050"/>
          <a:ext cx="3000000" cy="3000000"/>
        </p:xfrm>
        <a:graphic>
          <a:graphicData uri="http://schemas.openxmlformats.org/drawingml/2006/table">
            <a:tbl>
              <a:tblPr>
                <a:noFill/>
                <a:tableStyleId>{1ADA2F54-2538-4720-87F2-79A653811C8E}</a:tableStyleId>
              </a:tblPr>
              <a:tblGrid>
                <a:gridCol w="777475"/>
                <a:gridCol w="409125"/>
                <a:gridCol w="795550"/>
                <a:gridCol w="618925"/>
                <a:gridCol w="888175"/>
              </a:tblGrid>
              <a:tr h="416725">
                <a:tc>
                  <a:txBody>
                    <a:bodyPr/>
                    <a:lstStyle/>
                    <a:p>
                      <a:pPr indent="0" lvl="0" marL="0" rtl="0" algn="l">
                        <a:spcBef>
                          <a:spcPts val="0"/>
                        </a:spcBef>
                        <a:spcAft>
                          <a:spcPts val="0"/>
                        </a:spcAft>
                        <a:buNone/>
                      </a:pPr>
                      <a:r>
                        <a:rPr b="1" i="1" lang="es-419" sz="1000">
                          <a:latin typeface="Calibri"/>
                          <a:ea typeface="Calibri"/>
                          <a:cs typeface="Calibri"/>
                          <a:sym typeface="Calibri"/>
                        </a:rPr>
                        <a:t>Material 1</a:t>
                      </a:r>
                      <a:endParaRPr b="1" i="1"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i="1" lang="es-419" sz="1000">
                          <a:latin typeface="Calibri"/>
                          <a:ea typeface="Calibri"/>
                          <a:cs typeface="Calibri"/>
                          <a:sym typeface="Calibri"/>
                        </a:rPr>
                        <a:t>K1</a:t>
                      </a:r>
                      <a:endParaRPr b="1" i="1"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i="1" lang="es-419" sz="1000">
                          <a:solidFill>
                            <a:schemeClr val="dk1"/>
                          </a:solidFill>
                          <a:latin typeface="Calibri"/>
                          <a:ea typeface="Calibri"/>
                          <a:cs typeface="Calibri"/>
                          <a:sym typeface="Calibri"/>
                        </a:rPr>
                        <a:t>Material 2</a:t>
                      </a:r>
                      <a:endParaRPr b="1" i="1"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i="1" lang="es-419" sz="1000">
                          <a:latin typeface="Calibri"/>
                          <a:ea typeface="Calibri"/>
                          <a:cs typeface="Calibri"/>
                          <a:sym typeface="Calibri"/>
                        </a:rPr>
                        <a:t>K2</a:t>
                      </a:r>
                      <a:endParaRPr b="1" i="1"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i="1" lang="es-419" sz="1000">
                          <a:latin typeface="Calibri"/>
                          <a:ea typeface="Calibri"/>
                          <a:cs typeface="Calibri"/>
                          <a:sym typeface="Calibri"/>
                        </a:rPr>
                        <a:t>Reflectivity</a:t>
                      </a:r>
                      <a:endParaRPr b="1" i="1" sz="1000">
                        <a:latin typeface="Calibri"/>
                        <a:ea typeface="Calibri"/>
                        <a:cs typeface="Calibri"/>
                        <a:sym typeface="Calibri"/>
                      </a:endParaRPr>
                    </a:p>
                  </a:txBody>
                  <a:tcPr marT="91425" marB="91425" marR="91425" marL="91425"/>
                </a:tc>
              </a:tr>
              <a:tr h="416725">
                <a:tc>
                  <a:txBody>
                    <a:bodyPr/>
                    <a:lstStyle/>
                    <a:p>
                      <a:pPr indent="0" lvl="0" marL="0" rtl="0" algn="l">
                        <a:spcBef>
                          <a:spcPts val="0"/>
                        </a:spcBef>
                        <a:spcAft>
                          <a:spcPts val="0"/>
                        </a:spcAft>
                        <a:buNone/>
                      </a:pPr>
                      <a:r>
                        <a:rPr b="1" lang="es-419" sz="1000">
                          <a:solidFill>
                            <a:srgbClr val="1155CC"/>
                          </a:solidFill>
                          <a:latin typeface="Calibri"/>
                          <a:ea typeface="Calibri"/>
                          <a:cs typeface="Calibri"/>
                          <a:sym typeface="Calibri"/>
                        </a:rPr>
                        <a:t>Dry Sand</a:t>
                      </a:r>
                      <a:endParaRPr b="1" sz="1000">
                        <a:solidFill>
                          <a:srgbClr val="1155CC"/>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s-419" sz="1000">
                          <a:solidFill>
                            <a:srgbClr val="1155CC"/>
                          </a:solidFill>
                          <a:latin typeface="Calibri"/>
                          <a:ea typeface="Calibri"/>
                          <a:cs typeface="Calibri"/>
                          <a:sym typeface="Calibri"/>
                        </a:rPr>
                        <a:t>5</a:t>
                      </a:r>
                      <a:endParaRPr b="1" sz="1000">
                        <a:solidFill>
                          <a:srgbClr val="1155CC"/>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s-419" sz="1000">
                          <a:solidFill>
                            <a:srgbClr val="1155CC"/>
                          </a:solidFill>
                          <a:latin typeface="Calibri"/>
                          <a:ea typeface="Calibri"/>
                          <a:cs typeface="Calibri"/>
                          <a:sym typeface="Calibri"/>
                        </a:rPr>
                        <a:t>Rock</a:t>
                      </a:r>
                      <a:endParaRPr b="1" sz="1000">
                        <a:solidFill>
                          <a:srgbClr val="1155CC"/>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s-419" sz="1000">
                          <a:solidFill>
                            <a:srgbClr val="1155CC"/>
                          </a:solidFill>
                          <a:latin typeface="Calibri"/>
                          <a:ea typeface="Calibri"/>
                          <a:cs typeface="Calibri"/>
                          <a:sym typeface="Calibri"/>
                        </a:rPr>
                        <a:t>6</a:t>
                      </a:r>
                      <a:endParaRPr b="1" sz="1000">
                        <a:solidFill>
                          <a:srgbClr val="1155CC"/>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s-419" sz="1000">
                          <a:solidFill>
                            <a:srgbClr val="1155CC"/>
                          </a:solidFill>
                          <a:latin typeface="Calibri"/>
                          <a:ea typeface="Calibri"/>
                          <a:cs typeface="Calibri"/>
                          <a:sym typeface="Calibri"/>
                        </a:rPr>
                        <a:t>-5%</a:t>
                      </a:r>
                      <a:endParaRPr b="1" sz="1000">
                        <a:solidFill>
                          <a:srgbClr val="1155CC"/>
                        </a:solidFill>
                        <a:latin typeface="Calibri"/>
                        <a:ea typeface="Calibri"/>
                        <a:cs typeface="Calibri"/>
                        <a:sym typeface="Calibri"/>
                      </a:endParaRPr>
                    </a:p>
                  </a:txBody>
                  <a:tcPr marT="91425" marB="91425" marR="91425" marL="91425"/>
                </a:tc>
              </a:tr>
              <a:tr h="416725">
                <a:tc>
                  <a:txBody>
                    <a:bodyPr/>
                    <a:lstStyle/>
                    <a:p>
                      <a:pPr indent="0" lvl="0" marL="0" rtl="0" algn="l">
                        <a:spcBef>
                          <a:spcPts val="0"/>
                        </a:spcBef>
                        <a:spcAft>
                          <a:spcPts val="0"/>
                        </a:spcAft>
                        <a:buNone/>
                      </a:pPr>
                      <a:r>
                        <a:rPr lang="es-419" sz="1000">
                          <a:latin typeface="Calibri"/>
                          <a:ea typeface="Calibri"/>
                          <a:cs typeface="Calibri"/>
                          <a:sym typeface="Calibri"/>
                        </a:rPr>
                        <a:t>Wet Sand</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25</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Rock</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6</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34%</a:t>
                      </a:r>
                      <a:endParaRPr sz="1000">
                        <a:latin typeface="Calibri"/>
                        <a:ea typeface="Calibri"/>
                        <a:cs typeface="Calibri"/>
                        <a:sym typeface="Calibri"/>
                      </a:endParaRPr>
                    </a:p>
                  </a:txBody>
                  <a:tcPr marT="91425" marB="91425" marR="91425" marL="91425"/>
                </a:tc>
              </a:tr>
              <a:tr h="416725">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Dry Sand</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5</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Wet Sand</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25</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-38%</a:t>
                      </a:r>
                      <a:endParaRPr sz="1000">
                        <a:latin typeface="Calibri"/>
                        <a:ea typeface="Calibri"/>
                        <a:cs typeface="Calibri"/>
                        <a:sym typeface="Calibri"/>
                      </a:endParaRPr>
                    </a:p>
                  </a:txBody>
                  <a:tcPr marT="91425" marB="91425" marR="91425" marL="91425"/>
                </a:tc>
              </a:tr>
              <a:tr h="286500">
                <a:tc>
                  <a:txBody>
                    <a:bodyPr/>
                    <a:lstStyle/>
                    <a:p>
                      <a:pPr indent="0" lvl="0" marL="0" rtl="0" algn="l">
                        <a:spcBef>
                          <a:spcPts val="0"/>
                        </a:spcBef>
                        <a:spcAft>
                          <a:spcPts val="0"/>
                        </a:spcAft>
                        <a:buNone/>
                      </a:pPr>
                      <a:r>
                        <a:rPr lang="es-419" sz="1000">
                          <a:latin typeface="Calibri"/>
                          <a:ea typeface="Calibri"/>
                          <a:cs typeface="Calibri"/>
                          <a:sym typeface="Calibri"/>
                        </a:rPr>
                        <a:t>Rock</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6</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Air</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1</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42%</a:t>
                      </a:r>
                      <a:endParaRPr sz="1000">
                        <a:latin typeface="Calibri"/>
                        <a:ea typeface="Calibri"/>
                        <a:cs typeface="Calibri"/>
                        <a:sym typeface="Calibri"/>
                      </a:endParaRPr>
                    </a:p>
                  </a:txBody>
                  <a:tcPr marT="91425" marB="91425" marR="91425" marL="91425"/>
                </a:tc>
              </a:tr>
              <a:tr h="286500">
                <a:tc>
                  <a:txBody>
                    <a:bodyPr/>
                    <a:lstStyle/>
                    <a:p>
                      <a:pPr indent="0" lvl="0" marL="0" rtl="0" algn="l">
                        <a:spcBef>
                          <a:spcPts val="0"/>
                        </a:spcBef>
                        <a:spcAft>
                          <a:spcPts val="0"/>
                        </a:spcAft>
                        <a:buNone/>
                      </a:pPr>
                      <a:r>
                        <a:rPr lang="es-419" sz="1000">
                          <a:latin typeface="Calibri"/>
                          <a:ea typeface="Calibri"/>
                          <a:cs typeface="Calibri"/>
                          <a:sym typeface="Calibri"/>
                        </a:rPr>
                        <a:t>Water</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80</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Rock</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6</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57%</a:t>
                      </a:r>
                      <a:endParaRPr sz="1000">
                        <a:latin typeface="Calibri"/>
                        <a:ea typeface="Calibri"/>
                        <a:cs typeface="Calibri"/>
                        <a:sym typeface="Calibri"/>
                      </a:endParaRPr>
                    </a:p>
                  </a:txBody>
                  <a:tcPr marT="91425" marB="91425" marR="91425" marL="91425"/>
                </a:tc>
              </a:tr>
              <a:tr h="286500">
                <a:tc>
                  <a:txBody>
                    <a:bodyPr/>
                    <a:lstStyle/>
                    <a:p>
                      <a:pPr indent="0" lvl="0" marL="0" rtl="0" algn="l">
                        <a:spcBef>
                          <a:spcPts val="0"/>
                        </a:spcBef>
                        <a:spcAft>
                          <a:spcPts val="0"/>
                        </a:spcAft>
                        <a:buNone/>
                      </a:pPr>
                      <a:r>
                        <a:rPr lang="es-419" sz="1000">
                          <a:latin typeface="Calibri"/>
                          <a:ea typeface="Calibri"/>
                          <a:cs typeface="Calibri"/>
                          <a:sym typeface="Calibri"/>
                        </a:rPr>
                        <a:t>Ice</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3</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Water</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80</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67%</a:t>
                      </a:r>
                      <a:endParaRPr sz="1000">
                        <a:latin typeface="Calibri"/>
                        <a:ea typeface="Calibri"/>
                        <a:cs typeface="Calibri"/>
                        <a:sym typeface="Calibri"/>
                      </a:endParaRPr>
                    </a:p>
                  </a:txBody>
                  <a:tcPr marT="91425" marB="91425" marR="91425" marL="91425"/>
                </a:tc>
              </a:tr>
              <a:tr h="416725">
                <a:tc>
                  <a:txBody>
                    <a:bodyPr/>
                    <a:lstStyle/>
                    <a:p>
                      <a:pPr indent="0" lvl="0" marL="0" rtl="0" algn="l">
                        <a:spcBef>
                          <a:spcPts val="0"/>
                        </a:spcBef>
                        <a:spcAft>
                          <a:spcPts val="0"/>
                        </a:spcAft>
                        <a:buNone/>
                      </a:pPr>
                      <a:r>
                        <a:rPr lang="es-419" sz="1000">
                          <a:latin typeface="Calibri"/>
                          <a:ea typeface="Calibri"/>
                          <a:cs typeface="Calibri"/>
                          <a:sym typeface="Calibri"/>
                        </a:rPr>
                        <a:t>Soil</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12</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Metal</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infinito</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100%</a:t>
                      </a:r>
                      <a:endParaRPr sz="1000">
                        <a:latin typeface="Calibri"/>
                        <a:ea typeface="Calibri"/>
                        <a:cs typeface="Calibri"/>
                        <a:sym typeface="Calibri"/>
                      </a:endParaRPr>
                    </a:p>
                  </a:txBody>
                  <a:tcPr marT="91425" marB="91425" marR="91425" marL="91425"/>
                </a:tc>
              </a:tr>
            </a:tbl>
          </a:graphicData>
        </a:graphic>
      </p:graphicFrame>
      <p:pic>
        <p:nvPicPr>
          <p:cNvPr id="267" name="Google Shape;267;p33" title="Captura de pantalla 2025-04-22 183642.png"/>
          <p:cNvPicPr preferRelativeResize="0"/>
          <p:nvPr/>
        </p:nvPicPr>
        <p:blipFill>
          <a:blip r:embed="rId3">
            <a:alphaModFix/>
          </a:blip>
          <a:stretch>
            <a:fillRect/>
          </a:stretch>
        </p:blipFill>
        <p:spPr>
          <a:xfrm>
            <a:off x="4628425" y="1921893"/>
            <a:ext cx="4007625" cy="2452283"/>
          </a:xfrm>
          <a:prstGeom prst="rect">
            <a:avLst/>
          </a:prstGeom>
          <a:noFill/>
          <a:ln>
            <a:noFill/>
          </a:ln>
        </p:spPr>
      </p:pic>
      <p:sp>
        <p:nvSpPr>
          <p:cNvPr id="268" name="Google Shape;268;p33"/>
          <p:cNvSpPr txBox="1"/>
          <p:nvPr/>
        </p:nvSpPr>
        <p:spPr>
          <a:xfrm>
            <a:off x="5563388" y="1332050"/>
            <a:ext cx="2334900" cy="3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Dry Sand over Rock</a:t>
            </a:r>
            <a:endParaRPr sz="15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latin typeface="Calibri"/>
                <a:ea typeface="Calibri"/>
                <a:cs typeface="Calibri"/>
                <a:sym typeface="Calibri"/>
              </a:rPr>
              <a:t>Reflection Strength depends on the contrast of materials</a:t>
            </a:r>
            <a:endParaRPr>
              <a:latin typeface="Calibri"/>
              <a:ea typeface="Calibri"/>
              <a:cs typeface="Calibri"/>
              <a:sym typeface="Calibri"/>
            </a:endParaRPr>
          </a:p>
        </p:txBody>
      </p:sp>
      <p:sp>
        <p:nvSpPr>
          <p:cNvPr id="274" name="Google Shape;274;p34"/>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275" name="Google Shape;275;p34"/>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graphicFrame>
        <p:nvGraphicFramePr>
          <p:cNvPr id="276" name="Google Shape;276;p34"/>
          <p:cNvGraphicFramePr/>
          <p:nvPr/>
        </p:nvGraphicFramePr>
        <p:xfrm>
          <a:off x="311700" y="1332050"/>
          <a:ext cx="3000000" cy="3000000"/>
        </p:xfrm>
        <a:graphic>
          <a:graphicData uri="http://schemas.openxmlformats.org/drawingml/2006/table">
            <a:tbl>
              <a:tblPr>
                <a:noFill/>
                <a:tableStyleId>{1ADA2F54-2538-4720-87F2-79A653811C8E}</a:tableStyleId>
              </a:tblPr>
              <a:tblGrid>
                <a:gridCol w="777475"/>
                <a:gridCol w="409125"/>
                <a:gridCol w="795550"/>
                <a:gridCol w="618925"/>
                <a:gridCol w="888175"/>
              </a:tblGrid>
              <a:tr h="416725">
                <a:tc>
                  <a:txBody>
                    <a:bodyPr/>
                    <a:lstStyle/>
                    <a:p>
                      <a:pPr indent="0" lvl="0" marL="0" rtl="0" algn="l">
                        <a:spcBef>
                          <a:spcPts val="0"/>
                        </a:spcBef>
                        <a:spcAft>
                          <a:spcPts val="0"/>
                        </a:spcAft>
                        <a:buNone/>
                      </a:pPr>
                      <a:r>
                        <a:rPr b="1" i="1" lang="es-419" sz="1000">
                          <a:latin typeface="Calibri"/>
                          <a:ea typeface="Calibri"/>
                          <a:cs typeface="Calibri"/>
                          <a:sym typeface="Calibri"/>
                        </a:rPr>
                        <a:t>Material 1</a:t>
                      </a:r>
                      <a:endParaRPr b="1" i="1"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i="1" lang="es-419" sz="1000">
                          <a:latin typeface="Calibri"/>
                          <a:ea typeface="Calibri"/>
                          <a:cs typeface="Calibri"/>
                          <a:sym typeface="Calibri"/>
                        </a:rPr>
                        <a:t>K1</a:t>
                      </a:r>
                      <a:endParaRPr b="1" i="1"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i="1" lang="es-419" sz="1000">
                          <a:solidFill>
                            <a:schemeClr val="dk1"/>
                          </a:solidFill>
                          <a:latin typeface="Calibri"/>
                          <a:ea typeface="Calibri"/>
                          <a:cs typeface="Calibri"/>
                          <a:sym typeface="Calibri"/>
                        </a:rPr>
                        <a:t>Material 2</a:t>
                      </a:r>
                      <a:endParaRPr b="1" i="1"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i="1" lang="es-419" sz="1000">
                          <a:latin typeface="Calibri"/>
                          <a:ea typeface="Calibri"/>
                          <a:cs typeface="Calibri"/>
                          <a:sym typeface="Calibri"/>
                        </a:rPr>
                        <a:t>K2</a:t>
                      </a:r>
                      <a:endParaRPr b="1" i="1"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i="1" lang="es-419" sz="1000">
                          <a:latin typeface="Calibri"/>
                          <a:ea typeface="Calibri"/>
                          <a:cs typeface="Calibri"/>
                          <a:sym typeface="Calibri"/>
                        </a:rPr>
                        <a:t>Reflectivity</a:t>
                      </a:r>
                      <a:endParaRPr b="1" i="1" sz="1000">
                        <a:latin typeface="Calibri"/>
                        <a:ea typeface="Calibri"/>
                        <a:cs typeface="Calibri"/>
                        <a:sym typeface="Calibri"/>
                      </a:endParaRPr>
                    </a:p>
                  </a:txBody>
                  <a:tcPr marT="91425" marB="91425" marR="91425" marL="91425"/>
                </a:tc>
              </a:tr>
              <a:tr h="416725">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Dry Sand</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5</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Rock</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6</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-5%</a:t>
                      </a:r>
                      <a:endParaRPr sz="1000">
                        <a:solidFill>
                          <a:schemeClr val="dk1"/>
                        </a:solidFill>
                        <a:latin typeface="Calibri"/>
                        <a:ea typeface="Calibri"/>
                        <a:cs typeface="Calibri"/>
                        <a:sym typeface="Calibri"/>
                      </a:endParaRPr>
                    </a:p>
                  </a:txBody>
                  <a:tcPr marT="91425" marB="91425" marR="91425" marL="91425"/>
                </a:tc>
              </a:tr>
              <a:tr h="416725">
                <a:tc>
                  <a:txBody>
                    <a:bodyPr/>
                    <a:lstStyle/>
                    <a:p>
                      <a:pPr indent="0" lvl="0" marL="0" rtl="0" algn="l">
                        <a:spcBef>
                          <a:spcPts val="0"/>
                        </a:spcBef>
                        <a:spcAft>
                          <a:spcPts val="0"/>
                        </a:spcAft>
                        <a:buNone/>
                      </a:pPr>
                      <a:r>
                        <a:rPr lang="es-419" sz="1000">
                          <a:latin typeface="Calibri"/>
                          <a:ea typeface="Calibri"/>
                          <a:cs typeface="Calibri"/>
                          <a:sym typeface="Calibri"/>
                        </a:rPr>
                        <a:t>Wet Sand</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25</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Rock</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6</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34%</a:t>
                      </a:r>
                      <a:endParaRPr sz="1000">
                        <a:latin typeface="Calibri"/>
                        <a:ea typeface="Calibri"/>
                        <a:cs typeface="Calibri"/>
                        <a:sym typeface="Calibri"/>
                      </a:endParaRPr>
                    </a:p>
                  </a:txBody>
                  <a:tcPr marT="91425" marB="91425" marR="91425" marL="91425"/>
                </a:tc>
              </a:tr>
              <a:tr h="416725">
                <a:tc>
                  <a:txBody>
                    <a:bodyPr/>
                    <a:lstStyle/>
                    <a:p>
                      <a:pPr indent="0" lvl="0" marL="0" rtl="0" algn="l">
                        <a:spcBef>
                          <a:spcPts val="0"/>
                        </a:spcBef>
                        <a:spcAft>
                          <a:spcPts val="0"/>
                        </a:spcAft>
                        <a:buNone/>
                      </a:pPr>
                      <a:r>
                        <a:rPr b="1" lang="es-419" sz="1000">
                          <a:solidFill>
                            <a:srgbClr val="1155CC"/>
                          </a:solidFill>
                          <a:latin typeface="Calibri"/>
                          <a:ea typeface="Calibri"/>
                          <a:cs typeface="Calibri"/>
                          <a:sym typeface="Calibri"/>
                        </a:rPr>
                        <a:t>Dry Sand</a:t>
                      </a:r>
                      <a:endParaRPr b="1" sz="1000">
                        <a:solidFill>
                          <a:srgbClr val="1155CC"/>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s-419" sz="1000">
                          <a:solidFill>
                            <a:srgbClr val="1155CC"/>
                          </a:solidFill>
                          <a:latin typeface="Calibri"/>
                          <a:ea typeface="Calibri"/>
                          <a:cs typeface="Calibri"/>
                          <a:sym typeface="Calibri"/>
                        </a:rPr>
                        <a:t>5</a:t>
                      </a:r>
                      <a:endParaRPr b="1" sz="1000">
                        <a:solidFill>
                          <a:srgbClr val="1155CC"/>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s-419" sz="1000">
                          <a:solidFill>
                            <a:srgbClr val="1155CC"/>
                          </a:solidFill>
                          <a:latin typeface="Calibri"/>
                          <a:ea typeface="Calibri"/>
                          <a:cs typeface="Calibri"/>
                          <a:sym typeface="Calibri"/>
                        </a:rPr>
                        <a:t>Wet Sand</a:t>
                      </a:r>
                      <a:endParaRPr b="1" sz="1000">
                        <a:solidFill>
                          <a:srgbClr val="1155CC"/>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s-419" sz="1000">
                          <a:solidFill>
                            <a:srgbClr val="1155CC"/>
                          </a:solidFill>
                          <a:latin typeface="Calibri"/>
                          <a:ea typeface="Calibri"/>
                          <a:cs typeface="Calibri"/>
                          <a:sym typeface="Calibri"/>
                        </a:rPr>
                        <a:t>25</a:t>
                      </a:r>
                      <a:endParaRPr b="1" sz="1000">
                        <a:solidFill>
                          <a:srgbClr val="1155CC"/>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s-419" sz="1000">
                          <a:solidFill>
                            <a:srgbClr val="1155CC"/>
                          </a:solidFill>
                          <a:latin typeface="Calibri"/>
                          <a:ea typeface="Calibri"/>
                          <a:cs typeface="Calibri"/>
                          <a:sym typeface="Calibri"/>
                        </a:rPr>
                        <a:t>-38%</a:t>
                      </a:r>
                      <a:endParaRPr b="1" sz="1000">
                        <a:solidFill>
                          <a:srgbClr val="1155CC"/>
                        </a:solidFill>
                        <a:latin typeface="Calibri"/>
                        <a:ea typeface="Calibri"/>
                        <a:cs typeface="Calibri"/>
                        <a:sym typeface="Calibri"/>
                      </a:endParaRPr>
                    </a:p>
                  </a:txBody>
                  <a:tcPr marT="91425" marB="91425" marR="91425" marL="91425"/>
                </a:tc>
              </a:tr>
              <a:tr h="286500">
                <a:tc>
                  <a:txBody>
                    <a:bodyPr/>
                    <a:lstStyle/>
                    <a:p>
                      <a:pPr indent="0" lvl="0" marL="0" rtl="0" algn="l">
                        <a:spcBef>
                          <a:spcPts val="0"/>
                        </a:spcBef>
                        <a:spcAft>
                          <a:spcPts val="0"/>
                        </a:spcAft>
                        <a:buNone/>
                      </a:pPr>
                      <a:r>
                        <a:rPr lang="es-419" sz="1000">
                          <a:latin typeface="Calibri"/>
                          <a:ea typeface="Calibri"/>
                          <a:cs typeface="Calibri"/>
                          <a:sym typeface="Calibri"/>
                        </a:rPr>
                        <a:t>Rock</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6</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Air</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1</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42%</a:t>
                      </a:r>
                      <a:endParaRPr sz="1000">
                        <a:latin typeface="Calibri"/>
                        <a:ea typeface="Calibri"/>
                        <a:cs typeface="Calibri"/>
                        <a:sym typeface="Calibri"/>
                      </a:endParaRPr>
                    </a:p>
                  </a:txBody>
                  <a:tcPr marT="91425" marB="91425" marR="91425" marL="91425"/>
                </a:tc>
              </a:tr>
              <a:tr h="286500">
                <a:tc>
                  <a:txBody>
                    <a:bodyPr/>
                    <a:lstStyle/>
                    <a:p>
                      <a:pPr indent="0" lvl="0" marL="0" rtl="0" algn="l">
                        <a:spcBef>
                          <a:spcPts val="0"/>
                        </a:spcBef>
                        <a:spcAft>
                          <a:spcPts val="0"/>
                        </a:spcAft>
                        <a:buNone/>
                      </a:pPr>
                      <a:r>
                        <a:rPr lang="es-419" sz="1000">
                          <a:latin typeface="Calibri"/>
                          <a:ea typeface="Calibri"/>
                          <a:cs typeface="Calibri"/>
                          <a:sym typeface="Calibri"/>
                        </a:rPr>
                        <a:t>Water</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80</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Rock</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6</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57%</a:t>
                      </a:r>
                      <a:endParaRPr sz="1000">
                        <a:latin typeface="Calibri"/>
                        <a:ea typeface="Calibri"/>
                        <a:cs typeface="Calibri"/>
                        <a:sym typeface="Calibri"/>
                      </a:endParaRPr>
                    </a:p>
                  </a:txBody>
                  <a:tcPr marT="91425" marB="91425" marR="91425" marL="91425"/>
                </a:tc>
              </a:tr>
              <a:tr h="286500">
                <a:tc>
                  <a:txBody>
                    <a:bodyPr/>
                    <a:lstStyle/>
                    <a:p>
                      <a:pPr indent="0" lvl="0" marL="0" rtl="0" algn="l">
                        <a:spcBef>
                          <a:spcPts val="0"/>
                        </a:spcBef>
                        <a:spcAft>
                          <a:spcPts val="0"/>
                        </a:spcAft>
                        <a:buNone/>
                      </a:pPr>
                      <a:r>
                        <a:rPr lang="es-419" sz="1000">
                          <a:latin typeface="Calibri"/>
                          <a:ea typeface="Calibri"/>
                          <a:cs typeface="Calibri"/>
                          <a:sym typeface="Calibri"/>
                        </a:rPr>
                        <a:t>Ice</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3</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Water</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80</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67%</a:t>
                      </a:r>
                      <a:endParaRPr sz="1000">
                        <a:latin typeface="Calibri"/>
                        <a:ea typeface="Calibri"/>
                        <a:cs typeface="Calibri"/>
                        <a:sym typeface="Calibri"/>
                      </a:endParaRPr>
                    </a:p>
                  </a:txBody>
                  <a:tcPr marT="91425" marB="91425" marR="91425" marL="91425"/>
                </a:tc>
              </a:tr>
              <a:tr h="416725">
                <a:tc>
                  <a:txBody>
                    <a:bodyPr/>
                    <a:lstStyle/>
                    <a:p>
                      <a:pPr indent="0" lvl="0" marL="0" rtl="0" algn="l">
                        <a:spcBef>
                          <a:spcPts val="0"/>
                        </a:spcBef>
                        <a:spcAft>
                          <a:spcPts val="0"/>
                        </a:spcAft>
                        <a:buNone/>
                      </a:pPr>
                      <a:r>
                        <a:rPr lang="es-419" sz="1000">
                          <a:latin typeface="Calibri"/>
                          <a:ea typeface="Calibri"/>
                          <a:cs typeface="Calibri"/>
                          <a:sym typeface="Calibri"/>
                        </a:rPr>
                        <a:t>Soil</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12</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Metal</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infinito</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100%</a:t>
                      </a:r>
                      <a:endParaRPr sz="1000">
                        <a:latin typeface="Calibri"/>
                        <a:ea typeface="Calibri"/>
                        <a:cs typeface="Calibri"/>
                        <a:sym typeface="Calibri"/>
                      </a:endParaRPr>
                    </a:p>
                  </a:txBody>
                  <a:tcPr marT="91425" marB="91425" marR="91425" marL="91425"/>
                </a:tc>
              </a:tr>
            </a:tbl>
          </a:graphicData>
        </a:graphic>
      </p:graphicFrame>
      <p:sp>
        <p:nvSpPr>
          <p:cNvPr id="277" name="Google Shape;277;p34"/>
          <p:cNvSpPr txBox="1"/>
          <p:nvPr/>
        </p:nvSpPr>
        <p:spPr>
          <a:xfrm>
            <a:off x="5563388" y="1332050"/>
            <a:ext cx="2334900" cy="3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278" name="Google Shape;278;p34"/>
          <p:cNvSpPr txBox="1"/>
          <p:nvPr/>
        </p:nvSpPr>
        <p:spPr>
          <a:xfrm>
            <a:off x="5563388" y="1332050"/>
            <a:ext cx="2334900" cy="3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Dry Sand over Wet Sand</a:t>
            </a:r>
            <a:endParaRPr sz="1500">
              <a:solidFill>
                <a:schemeClr val="dk1"/>
              </a:solidFill>
              <a:latin typeface="Calibri"/>
              <a:ea typeface="Calibri"/>
              <a:cs typeface="Calibri"/>
              <a:sym typeface="Calibri"/>
            </a:endParaRPr>
          </a:p>
        </p:txBody>
      </p:sp>
      <p:pic>
        <p:nvPicPr>
          <p:cNvPr id="279" name="Google Shape;279;p34" title="Captura de pantalla 2025-04-22 175956.png"/>
          <p:cNvPicPr preferRelativeResize="0"/>
          <p:nvPr/>
        </p:nvPicPr>
        <p:blipFill>
          <a:blip r:embed="rId3">
            <a:alphaModFix/>
          </a:blip>
          <a:stretch>
            <a:fillRect/>
          </a:stretch>
        </p:blipFill>
        <p:spPr>
          <a:xfrm>
            <a:off x="4680275" y="1949350"/>
            <a:ext cx="3724974" cy="222199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latin typeface="Calibri"/>
                <a:ea typeface="Calibri"/>
                <a:cs typeface="Calibri"/>
                <a:sym typeface="Calibri"/>
              </a:rPr>
              <a:t>Reflection Strength depends on the contrast of materials</a:t>
            </a:r>
            <a:endParaRPr>
              <a:latin typeface="Calibri"/>
              <a:ea typeface="Calibri"/>
              <a:cs typeface="Calibri"/>
              <a:sym typeface="Calibri"/>
            </a:endParaRPr>
          </a:p>
        </p:txBody>
      </p:sp>
      <p:sp>
        <p:nvSpPr>
          <p:cNvPr id="285" name="Google Shape;285;p35"/>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286" name="Google Shape;286;p35"/>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graphicFrame>
        <p:nvGraphicFramePr>
          <p:cNvPr id="287" name="Google Shape;287;p35"/>
          <p:cNvGraphicFramePr/>
          <p:nvPr/>
        </p:nvGraphicFramePr>
        <p:xfrm>
          <a:off x="311700" y="1332050"/>
          <a:ext cx="3000000" cy="3000000"/>
        </p:xfrm>
        <a:graphic>
          <a:graphicData uri="http://schemas.openxmlformats.org/drawingml/2006/table">
            <a:tbl>
              <a:tblPr>
                <a:noFill/>
                <a:tableStyleId>{1ADA2F54-2538-4720-87F2-79A653811C8E}</a:tableStyleId>
              </a:tblPr>
              <a:tblGrid>
                <a:gridCol w="777475"/>
                <a:gridCol w="409125"/>
                <a:gridCol w="795550"/>
                <a:gridCol w="618925"/>
                <a:gridCol w="888175"/>
              </a:tblGrid>
              <a:tr h="416725">
                <a:tc>
                  <a:txBody>
                    <a:bodyPr/>
                    <a:lstStyle/>
                    <a:p>
                      <a:pPr indent="0" lvl="0" marL="0" rtl="0" algn="l">
                        <a:spcBef>
                          <a:spcPts val="0"/>
                        </a:spcBef>
                        <a:spcAft>
                          <a:spcPts val="0"/>
                        </a:spcAft>
                        <a:buNone/>
                      </a:pPr>
                      <a:r>
                        <a:rPr b="1" i="1" lang="es-419" sz="1000">
                          <a:latin typeface="Calibri"/>
                          <a:ea typeface="Calibri"/>
                          <a:cs typeface="Calibri"/>
                          <a:sym typeface="Calibri"/>
                        </a:rPr>
                        <a:t>Material 1</a:t>
                      </a:r>
                      <a:endParaRPr b="1" i="1"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i="1" lang="es-419" sz="1000">
                          <a:latin typeface="Calibri"/>
                          <a:ea typeface="Calibri"/>
                          <a:cs typeface="Calibri"/>
                          <a:sym typeface="Calibri"/>
                        </a:rPr>
                        <a:t>K1</a:t>
                      </a:r>
                      <a:endParaRPr b="1" i="1"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i="1" lang="es-419" sz="1000">
                          <a:solidFill>
                            <a:schemeClr val="dk1"/>
                          </a:solidFill>
                          <a:latin typeface="Calibri"/>
                          <a:ea typeface="Calibri"/>
                          <a:cs typeface="Calibri"/>
                          <a:sym typeface="Calibri"/>
                        </a:rPr>
                        <a:t>Material 2</a:t>
                      </a:r>
                      <a:endParaRPr b="1" i="1"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i="1" lang="es-419" sz="1000">
                          <a:latin typeface="Calibri"/>
                          <a:ea typeface="Calibri"/>
                          <a:cs typeface="Calibri"/>
                          <a:sym typeface="Calibri"/>
                        </a:rPr>
                        <a:t>K2</a:t>
                      </a:r>
                      <a:endParaRPr b="1" i="1"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i="1" lang="es-419" sz="1000">
                          <a:latin typeface="Calibri"/>
                          <a:ea typeface="Calibri"/>
                          <a:cs typeface="Calibri"/>
                          <a:sym typeface="Calibri"/>
                        </a:rPr>
                        <a:t>Reflectivity</a:t>
                      </a:r>
                      <a:endParaRPr b="1" i="1" sz="1000">
                        <a:latin typeface="Calibri"/>
                        <a:ea typeface="Calibri"/>
                        <a:cs typeface="Calibri"/>
                        <a:sym typeface="Calibri"/>
                      </a:endParaRPr>
                    </a:p>
                  </a:txBody>
                  <a:tcPr marT="91425" marB="91425" marR="91425" marL="91425"/>
                </a:tc>
              </a:tr>
              <a:tr h="416725">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Dry Sand</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5</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Rock</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6</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-5%</a:t>
                      </a:r>
                      <a:endParaRPr sz="1000">
                        <a:solidFill>
                          <a:schemeClr val="dk1"/>
                        </a:solidFill>
                        <a:latin typeface="Calibri"/>
                        <a:ea typeface="Calibri"/>
                        <a:cs typeface="Calibri"/>
                        <a:sym typeface="Calibri"/>
                      </a:endParaRPr>
                    </a:p>
                  </a:txBody>
                  <a:tcPr marT="91425" marB="91425" marR="91425" marL="91425"/>
                </a:tc>
              </a:tr>
              <a:tr h="416725">
                <a:tc>
                  <a:txBody>
                    <a:bodyPr/>
                    <a:lstStyle/>
                    <a:p>
                      <a:pPr indent="0" lvl="0" marL="0" rtl="0" algn="l">
                        <a:spcBef>
                          <a:spcPts val="0"/>
                        </a:spcBef>
                        <a:spcAft>
                          <a:spcPts val="0"/>
                        </a:spcAft>
                        <a:buNone/>
                      </a:pPr>
                      <a:r>
                        <a:rPr lang="es-419" sz="1000">
                          <a:latin typeface="Calibri"/>
                          <a:ea typeface="Calibri"/>
                          <a:cs typeface="Calibri"/>
                          <a:sym typeface="Calibri"/>
                        </a:rPr>
                        <a:t>Wet Sand</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25</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Rock</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6</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34%</a:t>
                      </a:r>
                      <a:endParaRPr sz="1000">
                        <a:latin typeface="Calibri"/>
                        <a:ea typeface="Calibri"/>
                        <a:cs typeface="Calibri"/>
                        <a:sym typeface="Calibri"/>
                      </a:endParaRPr>
                    </a:p>
                  </a:txBody>
                  <a:tcPr marT="91425" marB="91425" marR="91425" marL="91425"/>
                </a:tc>
              </a:tr>
              <a:tr h="416725">
                <a:tc>
                  <a:txBody>
                    <a:bodyPr/>
                    <a:lstStyle/>
                    <a:p>
                      <a:pPr indent="0" lvl="0" marL="0" rtl="0" algn="l">
                        <a:spcBef>
                          <a:spcPts val="0"/>
                        </a:spcBef>
                        <a:spcAft>
                          <a:spcPts val="0"/>
                        </a:spcAft>
                        <a:buNone/>
                      </a:pPr>
                      <a:r>
                        <a:rPr b="1" lang="es-419" sz="1000">
                          <a:solidFill>
                            <a:srgbClr val="1155CC"/>
                          </a:solidFill>
                          <a:latin typeface="Calibri"/>
                          <a:ea typeface="Calibri"/>
                          <a:cs typeface="Calibri"/>
                          <a:sym typeface="Calibri"/>
                        </a:rPr>
                        <a:t>Dry Sand</a:t>
                      </a:r>
                      <a:endParaRPr b="1" sz="1000">
                        <a:solidFill>
                          <a:srgbClr val="1155CC"/>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s-419" sz="1000">
                          <a:solidFill>
                            <a:srgbClr val="1155CC"/>
                          </a:solidFill>
                          <a:latin typeface="Calibri"/>
                          <a:ea typeface="Calibri"/>
                          <a:cs typeface="Calibri"/>
                          <a:sym typeface="Calibri"/>
                        </a:rPr>
                        <a:t>5</a:t>
                      </a:r>
                      <a:endParaRPr b="1" sz="1000">
                        <a:solidFill>
                          <a:srgbClr val="1155CC"/>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s-419" sz="1000">
                          <a:solidFill>
                            <a:srgbClr val="1155CC"/>
                          </a:solidFill>
                          <a:latin typeface="Calibri"/>
                          <a:ea typeface="Calibri"/>
                          <a:cs typeface="Calibri"/>
                          <a:sym typeface="Calibri"/>
                        </a:rPr>
                        <a:t>Wet Sand</a:t>
                      </a:r>
                      <a:endParaRPr b="1" sz="1000">
                        <a:solidFill>
                          <a:srgbClr val="1155CC"/>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s-419" sz="1000">
                          <a:solidFill>
                            <a:srgbClr val="1155CC"/>
                          </a:solidFill>
                          <a:latin typeface="Calibri"/>
                          <a:ea typeface="Calibri"/>
                          <a:cs typeface="Calibri"/>
                          <a:sym typeface="Calibri"/>
                        </a:rPr>
                        <a:t>25</a:t>
                      </a:r>
                      <a:endParaRPr b="1" sz="1000">
                        <a:solidFill>
                          <a:srgbClr val="1155CC"/>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s-419" sz="1000">
                          <a:solidFill>
                            <a:srgbClr val="1155CC"/>
                          </a:solidFill>
                          <a:latin typeface="Calibri"/>
                          <a:ea typeface="Calibri"/>
                          <a:cs typeface="Calibri"/>
                          <a:sym typeface="Calibri"/>
                        </a:rPr>
                        <a:t>-38%</a:t>
                      </a:r>
                      <a:endParaRPr b="1" sz="1000">
                        <a:solidFill>
                          <a:srgbClr val="1155CC"/>
                        </a:solidFill>
                        <a:latin typeface="Calibri"/>
                        <a:ea typeface="Calibri"/>
                        <a:cs typeface="Calibri"/>
                        <a:sym typeface="Calibri"/>
                      </a:endParaRPr>
                    </a:p>
                  </a:txBody>
                  <a:tcPr marT="91425" marB="91425" marR="91425" marL="91425"/>
                </a:tc>
              </a:tr>
              <a:tr h="286500">
                <a:tc>
                  <a:txBody>
                    <a:bodyPr/>
                    <a:lstStyle/>
                    <a:p>
                      <a:pPr indent="0" lvl="0" marL="0" rtl="0" algn="l">
                        <a:spcBef>
                          <a:spcPts val="0"/>
                        </a:spcBef>
                        <a:spcAft>
                          <a:spcPts val="0"/>
                        </a:spcAft>
                        <a:buNone/>
                      </a:pPr>
                      <a:r>
                        <a:rPr lang="es-419" sz="1000">
                          <a:latin typeface="Calibri"/>
                          <a:ea typeface="Calibri"/>
                          <a:cs typeface="Calibri"/>
                          <a:sym typeface="Calibri"/>
                        </a:rPr>
                        <a:t>Rock</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6</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Air</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1</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42%</a:t>
                      </a:r>
                      <a:endParaRPr sz="1000">
                        <a:latin typeface="Calibri"/>
                        <a:ea typeface="Calibri"/>
                        <a:cs typeface="Calibri"/>
                        <a:sym typeface="Calibri"/>
                      </a:endParaRPr>
                    </a:p>
                  </a:txBody>
                  <a:tcPr marT="91425" marB="91425" marR="91425" marL="91425"/>
                </a:tc>
              </a:tr>
              <a:tr h="286500">
                <a:tc>
                  <a:txBody>
                    <a:bodyPr/>
                    <a:lstStyle/>
                    <a:p>
                      <a:pPr indent="0" lvl="0" marL="0" rtl="0" algn="l">
                        <a:spcBef>
                          <a:spcPts val="0"/>
                        </a:spcBef>
                        <a:spcAft>
                          <a:spcPts val="0"/>
                        </a:spcAft>
                        <a:buNone/>
                      </a:pPr>
                      <a:r>
                        <a:rPr lang="es-419" sz="1000">
                          <a:latin typeface="Calibri"/>
                          <a:ea typeface="Calibri"/>
                          <a:cs typeface="Calibri"/>
                          <a:sym typeface="Calibri"/>
                        </a:rPr>
                        <a:t>Water</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80</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Rock</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6</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57%</a:t>
                      </a:r>
                      <a:endParaRPr sz="1000">
                        <a:latin typeface="Calibri"/>
                        <a:ea typeface="Calibri"/>
                        <a:cs typeface="Calibri"/>
                        <a:sym typeface="Calibri"/>
                      </a:endParaRPr>
                    </a:p>
                  </a:txBody>
                  <a:tcPr marT="91425" marB="91425" marR="91425" marL="91425"/>
                </a:tc>
              </a:tr>
              <a:tr h="286500">
                <a:tc>
                  <a:txBody>
                    <a:bodyPr/>
                    <a:lstStyle/>
                    <a:p>
                      <a:pPr indent="0" lvl="0" marL="0" rtl="0" algn="l">
                        <a:spcBef>
                          <a:spcPts val="0"/>
                        </a:spcBef>
                        <a:spcAft>
                          <a:spcPts val="0"/>
                        </a:spcAft>
                        <a:buNone/>
                      </a:pPr>
                      <a:r>
                        <a:rPr lang="es-419" sz="1000">
                          <a:latin typeface="Calibri"/>
                          <a:ea typeface="Calibri"/>
                          <a:cs typeface="Calibri"/>
                          <a:sym typeface="Calibri"/>
                        </a:rPr>
                        <a:t>Ice</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3</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Water</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80</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67%</a:t>
                      </a:r>
                      <a:endParaRPr sz="1000">
                        <a:latin typeface="Calibri"/>
                        <a:ea typeface="Calibri"/>
                        <a:cs typeface="Calibri"/>
                        <a:sym typeface="Calibri"/>
                      </a:endParaRPr>
                    </a:p>
                  </a:txBody>
                  <a:tcPr marT="91425" marB="91425" marR="91425" marL="91425"/>
                </a:tc>
              </a:tr>
              <a:tr h="416725">
                <a:tc>
                  <a:txBody>
                    <a:bodyPr/>
                    <a:lstStyle/>
                    <a:p>
                      <a:pPr indent="0" lvl="0" marL="0" rtl="0" algn="l">
                        <a:spcBef>
                          <a:spcPts val="0"/>
                        </a:spcBef>
                        <a:spcAft>
                          <a:spcPts val="0"/>
                        </a:spcAft>
                        <a:buNone/>
                      </a:pPr>
                      <a:r>
                        <a:rPr lang="es-419" sz="1000">
                          <a:latin typeface="Calibri"/>
                          <a:ea typeface="Calibri"/>
                          <a:cs typeface="Calibri"/>
                          <a:sym typeface="Calibri"/>
                        </a:rPr>
                        <a:t>Soil</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12</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Metal</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infinito</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100%</a:t>
                      </a:r>
                      <a:endParaRPr sz="1000">
                        <a:latin typeface="Calibri"/>
                        <a:ea typeface="Calibri"/>
                        <a:cs typeface="Calibri"/>
                        <a:sym typeface="Calibri"/>
                      </a:endParaRPr>
                    </a:p>
                  </a:txBody>
                  <a:tcPr marT="91425" marB="91425" marR="91425" marL="91425"/>
                </a:tc>
              </a:tr>
            </a:tbl>
          </a:graphicData>
        </a:graphic>
      </p:graphicFrame>
      <p:sp>
        <p:nvSpPr>
          <p:cNvPr id="288" name="Google Shape;288;p35"/>
          <p:cNvSpPr txBox="1"/>
          <p:nvPr/>
        </p:nvSpPr>
        <p:spPr>
          <a:xfrm>
            <a:off x="5563388" y="1332050"/>
            <a:ext cx="2334900" cy="3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289" name="Google Shape;289;p35"/>
          <p:cNvSpPr txBox="1"/>
          <p:nvPr/>
        </p:nvSpPr>
        <p:spPr>
          <a:xfrm>
            <a:off x="5563388" y="1332050"/>
            <a:ext cx="2334900" cy="3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Dry Sand over Wet Sand</a:t>
            </a:r>
            <a:endParaRPr sz="1500">
              <a:solidFill>
                <a:schemeClr val="dk1"/>
              </a:solidFill>
              <a:latin typeface="Calibri"/>
              <a:ea typeface="Calibri"/>
              <a:cs typeface="Calibri"/>
              <a:sym typeface="Calibri"/>
            </a:endParaRPr>
          </a:p>
        </p:txBody>
      </p:sp>
      <p:pic>
        <p:nvPicPr>
          <p:cNvPr id="290" name="Google Shape;290;p35" title="Captura de pantalla 2025-04-22 180048.png"/>
          <p:cNvPicPr preferRelativeResize="0"/>
          <p:nvPr/>
        </p:nvPicPr>
        <p:blipFill>
          <a:blip r:embed="rId3">
            <a:alphaModFix/>
          </a:blip>
          <a:stretch>
            <a:fillRect/>
          </a:stretch>
        </p:blipFill>
        <p:spPr>
          <a:xfrm>
            <a:off x="4305800" y="1857127"/>
            <a:ext cx="4611456" cy="23747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latin typeface="Calibri"/>
                <a:ea typeface="Calibri"/>
                <a:cs typeface="Calibri"/>
                <a:sym typeface="Calibri"/>
              </a:rPr>
              <a:t>Reflection Strength depends on the contrast of materials</a:t>
            </a:r>
            <a:endParaRPr>
              <a:latin typeface="Calibri"/>
              <a:ea typeface="Calibri"/>
              <a:cs typeface="Calibri"/>
              <a:sym typeface="Calibri"/>
            </a:endParaRPr>
          </a:p>
        </p:txBody>
      </p:sp>
      <p:sp>
        <p:nvSpPr>
          <p:cNvPr id="296" name="Google Shape;296;p36"/>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297" name="Google Shape;297;p36"/>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graphicFrame>
        <p:nvGraphicFramePr>
          <p:cNvPr id="298" name="Google Shape;298;p36"/>
          <p:cNvGraphicFramePr/>
          <p:nvPr/>
        </p:nvGraphicFramePr>
        <p:xfrm>
          <a:off x="311700" y="1332050"/>
          <a:ext cx="3000000" cy="3000000"/>
        </p:xfrm>
        <a:graphic>
          <a:graphicData uri="http://schemas.openxmlformats.org/drawingml/2006/table">
            <a:tbl>
              <a:tblPr>
                <a:noFill/>
                <a:tableStyleId>{1ADA2F54-2538-4720-87F2-79A653811C8E}</a:tableStyleId>
              </a:tblPr>
              <a:tblGrid>
                <a:gridCol w="777475"/>
                <a:gridCol w="409125"/>
                <a:gridCol w="795550"/>
                <a:gridCol w="618925"/>
                <a:gridCol w="888175"/>
              </a:tblGrid>
              <a:tr h="416725">
                <a:tc>
                  <a:txBody>
                    <a:bodyPr/>
                    <a:lstStyle/>
                    <a:p>
                      <a:pPr indent="0" lvl="0" marL="0" rtl="0" algn="l">
                        <a:spcBef>
                          <a:spcPts val="0"/>
                        </a:spcBef>
                        <a:spcAft>
                          <a:spcPts val="0"/>
                        </a:spcAft>
                        <a:buNone/>
                      </a:pPr>
                      <a:r>
                        <a:rPr b="1" i="1" lang="es-419" sz="1000">
                          <a:latin typeface="Calibri"/>
                          <a:ea typeface="Calibri"/>
                          <a:cs typeface="Calibri"/>
                          <a:sym typeface="Calibri"/>
                        </a:rPr>
                        <a:t>Material 1</a:t>
                      </a:r>
                      <a:endParaRPr b="1" i="1"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i="1" lang="es-419" sz="1000">
                          <a:latin typeface="Calibri"/>
                          <a:ea typeface="Calibri"/>
                          <a:cs typeface="Calibri"/>
                          <a:sym typeface="Calibri"/>
                        </a:rPr>
                        <a:t>K1</a:t>
                      </a:r>
                      <a:endParaRPr b="1" i="1"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i="1" lang="es-419" sz="1000">
                          <a:solidFill>
                            <a:schemeClr val="dk1"/>
                          </a:solidFill>
                          <a:latin typeface="Calibri"/>
                          <a:ea typeface="Calibri"/>
                          <a:cs typeface="Calibri"/>
                          <a:sym typeface="Calibri"/>
                        </a:rPr>
                        <a:t>Material 2</a:t>
                      </a:r>
                      <a:endParaRPr b="1" i="1"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i="1" lang="es-419" sz="1000">
                          <a:latin typeface="Calibri"/>
                          <a:ea typeface="Calibri"/>
                          <a:cs typeface="Calibri"/>
                          <a:sym typeface="Calibri"/>
                        </a:rPr>
                        <a:t>K2</a:t>
                      </a:r>
                      <a:endParaRPr b="1" i="1"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i="1" lang="es-419" sz="1000">
                          <a:latin typeface="Calibri"/>
                          <a:ea typeface="Calibri"/>
                          <a:cs typeface="Calibri"/>
                          <a:sym typeface="Calibri"/>
                        </a:rPr>
                        <a:t>Reflectivity</a:t>
                      </a:r>
                      <a:endParaRPr b="1" i="1" sz="1000">
                        <a:latin typeface="Calibri"/>
                        <a:ea typeface="Calibri"/>
                        <a:cs typeface="Calibri"/>
                        <a:sym typeface="Calibri"/>
                      </a:endParaRPr>
                    </a:p>
                  </a:txBody>
                  <a:tcPr marT="91425" marB="91425" marR="91425" marL="91425"/>
                </a:tc>
              </a:tr>
              <a:tr h="416725">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Dry Sand</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5</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Rock</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6</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-5%</a:t>
                      </a:r>
                      <a:endParaRPr sz="1000">
                        <a:solidFill>
                          <a:schemeClr val="dk1"/>
                        </a:solidFill>
                        <a:latin typeface="Calibri"/>
                        <a:ea typeface="Calibri"/>
                        <a:cs typeface="Calibri"/>
                        <a:sym typeface="Calibri"/>
                      </a:endParaRPr>
                    </a:p>
                  </a:txBody>
                  <a:tcPr marT="91425" marB="91425" marR="91425" marL="91425"/>
                </a:tc>
              </a:tr>
              <a:tr h="416725">
                <a:tc>
                  <a:txBody>
                    <a:bodyPr/>
                    <a:lstStyle/>
                    <a:p>
                      <a:pPr indent="0" lvl="0" marL="0" rtl="0" algn="l">
                        <a:spcBef>
                          <a:spcPts val="0"/>
                        </a:spcBef>
                        <a:spcAft>
                          <a:spcPts val="0"/>
                        </a:spcAft>
                        <a:buNone/>
                      </a:pPr>
                      <a:r>
                        <a:rPr lang="es-419" sz="1000">
                          <a:latin typeface="Calibri"/>
                          <a:ea typeface="Calibri"/>
                          <a:cs typeface="Calibri"/>
                          <a:sym typeface="Calibri"/>
                        </a:rPr>
                        <a:t>Wet Sand</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25</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Rock</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6</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34%</a:t>
                      </a:r>
                      <a:endParaRPr sz="1000">
                        <a:latin typeface="Calibri"/>
                        <a:ea typeface="Calibri"/>
                        <a:cs typeface="Calibri"/>
                        <a:sym typeface="Calibri"/>
                      </a:endParaRPr>
                    </a:p>
                  </a:txBody>
                  <a:tcPr marT="91425" marB="91425" marR="91425" marL="91425"/>
                </a:tc>
              </a:tr>
              <a:tr h="416725">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Dry Sand</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5</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Wet Sand</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25</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-38%</a:t>
                      </a:r>
                      <a:endParaRPr sz="1000">
                        <a:solidFill>
                          <a:schemeClr val="dk1"/>
                        </a:solidFill>
                        <a:latin typeface="Calibri"/>
                        <a:ea typeface="Calibri"/>
                        <a:cs typeface="Calibri"/>
                        <a:sym typeface="Calibri"/>
                      </a:endParaRPr>
                    </a:p>
                  </a:txBody>
                  <a:tcPr marT="91425" marB="91425" marR="91425" marL="91425"/>
                </a:tc>
              </a:tr>
              <a:tr h="286500">
                <a:tc>
                  <a:txBody>
                    <a:bodyPr/>
                    <a:lstStyle/>
                    <a:p>
                      <a:pPr indent="0" lvl="0" marL="0" rtl="0" algn="l">
                        <a:spcBef>
                          <a:spcPts val="0"/>
                        </a:spcBef>
                        <a:spcAft>
                          <a:spcPts val="0"/>
                        </a:spcAft>
                        <a:buNone/>
                      </a:pPr>
                      <a:r>
                        <a:rPr b="1" lang="es-419" sz="1000">
                          <a:solidFill>
                            <a:srgbClr val="1155CC"/>
                          </a:solidFill>
                          <a:latin typeface="Calibri"/>
                          <a:ea typeface="Calibri"/>
                          <a:cs typeface="Calibri"/>
                          <a:sym typeface="Calibri"/>
                        </a:rPr>
                        <a:t>Rock</a:t>
                      </a:r>
                      <a:endParaRPr b="1" sz="1000">
                        <a:solidFill>
                          <a:srgbClr val="1155CC"/>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s-419" sz="1000">
                          <a:solidFill>
                            <a:srgbClr val="1155CC"/>
                          </a:solidFill>
                          <a:latin typeface="Calibri"/>
                          <a:ea typeface="Calibri"/>
                          <a:cs typeface="Calibri"/>
                          <a:sym typeface="Calibri"/>
                        </a:rPr>
                        <a:t>6</a:t>
                      </a:r>
                      <a:endParaRPr b="1" sz="1000">
                        <a:solidFill>
                          <a:srgbClr val="1155CC"/>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s-419" sz="1000">
                          <a:solidFill>
                            <a:srgbClr val="1155CC"/>
                          </a:solidFill>
                          <a:latin typeface="Calibri"/>
                          <a:ea typeface="Calibri"/>
                          <a:cs typeface="Calibri"/>
                          <a:sym typeface="Calibri"/>
                        </a:rPr>
                        <a:t>Air</a:t>
                      </a:r>
                      <a:endParaRPr b="1" sz="1000">
                        <a:solidFill>
                          <a:srgbClr val="1155CC"/>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s-419" sz="1000">
                          <a:solidFill>
                            <a:srgbClr val="1155CC"/>
                          </a:solidFill>
                          <a:latin typeface="Calibri"/>
                          <a:ea typeface="Calibri"/>
                          <a:cs typeface="Calibri"/>
                          <a:sym typeface="Calibri"/>
                        </a:rPr>
                        <a:t>1</a:t>
                      </a:r>
                      <a:endParaRPr b="1" sz="1000">
                        <a:solidFill>
                          <a:srgbClr val="1155CC"/>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s-419" sz="1000">
                          <a:solidFill>
                            <a:srgbClr val="1155CC"/>
                          </a:solidFill>
                          <a:latin typeface="Calibri"/>
                          <a:ea typeface="Calibri"/>
                          <a:cs typeface="Calibri"/>
                          <a:sym typeface="Calibri"/>
                        </a:rPr>
                        <a:t>42%</a:t>
                      </a:r>
                      <a:endParaRPr b="1" sz="1000">
                        <a:solidFill>
                          <a:srgbClr val="1155CC"/>
                        </a:solidFill>
                        <a:latin typeface="Calibri"/>
                        <a:ea typeface="Calibri"/>
                        <a:cs typeface="Calibri"/>
                        <a:sym typeface="Calibri"/>
                      </a:endParaRPr>
                    </a:p>
                  </a:txBody>
                  <a:tcPr marT="91425" marB="91425" marR="91425" marL="91425"/>
                </a:tc>
              </a:tr>
              <a:tr h="286500">
                <a:tc>
                  <a:txBody>
                    <a:bodyPr/>
                    <a:lstStyle/>
                    <a:p>
                      <a:pPr indent="0" lvl="0" marL="0" rtl="0" algn="l">
                        <a:spcBef>
                          <a:spcPts val="0"/>
                        </a:spcBef>
                        <a:spcAft>
                          <a:spcPts val="0"/>
                        </a:spcAft>
                        <a:buNone/>
                      </a:pPr>
                      <a:r>
                        <a:rPr lang="es-419" sz="1000">
                          <a:latin typeface="Calibri"/>
                          <a:ea typeface="Calibri"/>
                          <a:cs typeface="Calibri"/>
                          <a:sym typeface="Calibri"/>
                        </a:rPr>
                        <a:t>Water</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80</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Rock</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6</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57%</a:t>
                      </a:r>
                      <a:endParaRPr sz="1000">
                        <a:latin typeface="Calibri"/>
                        <a:ea typeface="Calibri"/>
                        <a:cs typeface="Calibri"/>
                        <a:sym typeface="Calibri"/>
                      </a:endParaRPr>
                    </a:p>
                  </a:txBody>
                  <a:tcPr marT="91425" marB="91425" marR="91425" marL="91425"/>
                </a:tc>
              </a:tr>
              <a:tr h="286500">
                <a:tc>
                  <a:txBody>
                    <a:bodyPr/>
                    <a:lstStyle/>
                    <a:p>
                      <a:pPr indent="0" lvl="0" marL="0" rtl="0" algn="l">
                        <a:spcBef>
                          <a:spcPts val="0"/>
                        </a:spcBef>
                        <a:spcAft>
                          <a:spcPts val="0"/>
                        </a:spcAft>
                        <a:buNone/>
                      </a:pPr>
                      <a:r>
                        <a:rPr lang="es-419" sz="1000">
                          <a:latin typeface="Calibri"/>
                          <a:ea typeface="Calibri"/>
                          <a:cs typeface="Calibri"/>
                          <a:sym typeface="Calibri"/>
                        </a:rPr>
                        <a:t>Ice</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3</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Water</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80</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67%</a:t>
                      </a:r>
                      <a:endParaRPr sz="1000">
                        <a:latin typeface="Calibri"/>
                        <a:ea typeface="Calibri"/>
                        <a:cs typeface="Calibri"/>
                        <a:sym typeface="Calibri"/>
                      </a:endParaRPr>
                    </a:p>
                  </a:txBody>
                  <a:tcPr marT="91425" marB="91425" marR="91425" marL="91425"/>
                </a:tc>
              </a:tr>
              <a:tr h="416725">
                <a:tc>
                  <a:txBody>
                    <a:bodyPr/>
                    <a:lstStyle/>
                    <a:p>
                      <a:pPr indent="0" lvl="0" marL="0" rtl="0" algn="l">
                        <a:spcBef>
                          <a:spcPts val="0"/>
                        </a:spcBef>
                        <a:spcAft>
                          <a:spcPts val="0"/>
                        </a:spcAft>
                        <a:buNone/>
                      </a:pPr>
                      <a:r>
                        <a:rPr lang="es-419" sz="1000">
                          <a:latin typeface="Calibri"/>
                          <a:ea typeface="Calibri"/>
                          <a:cs typeface="Calibri"/>
                          <a:sym typeface="Calibri"/>
                        </a:rPr>
                        <a:t>Soil</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12</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Metal</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infinito</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100%</a:t>
                      </a:r>
                      <a:endParaRPr sz="1000">
                        <a:latin typeface="Calibri"/>
                        <a:ea typeface="Calibri"/>
                        <a:cs typeface="Calibri"/>
                        <a:sym typeface="Calibri"/>
                      </a:endParaRPr>
                    </a:p>
                  </a:txBody>
                  <a:tcPr marT="91425" marB="91425" marR="91425" marL="91425"/>
                </a:tc>
              </a:tr>
            </a:tbl>
          </a:graphicData>
        </a:graphic>
      </p:graphicFrame>
      <p:sp>
        <p:nvSpPr>
          <p:cNvPr id="299" name="Google Shape;299;p36"/>
          <p:cNvSpPr txBox="1"/>
          <p:nvPr/>
        </p:nvSpPr>
        <p:spPr>
          <a:xfrm>
            <a:off x="5563388" y="1332050"/>
            <a:ext cx="2334900" cy="3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300" name="Google Shape;300;p36"/>
          <p:cNvSpPr txBox="1"/>
          <p:nvPr/>
        </p:nvSpPr>
        <p:spPr>
          <a:xfrm>
            <a:off x="5563388" y="1332050"/>
            <a:ext cx="2334900" cy="3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Cavity in Rock</a:t>
            </a:r>
            <a:endParaRPr sz="1500">
              <a:solidFill>
                <a:schemeClr val="dk1"/>
              </a:solidFill>
              <a:latin typeface="Calibri"/>
              <a:ea typeface="Calibri"/>
              <a:cs typeface="Calibri"/>
              <a:sym typeface="Calibri"/>
            </a:endParaRPr>
          </a:p>
        </p:txBody>
      </p:sp>
      <p:pic>
        <p:nvPicPr>
          <p:cNvPr id="301" name="Google Shape;301;p36" title="Captura de pantalla 2025-04-22 180214.png"/>
          <p:cNvPicPr preferRelativeResize="0"/>
          <p:nvPr/>
        </p:nvPicPr>
        <p:blipFill>
          <a:blip r:embed="rId3">
            <a:alphaModFix/>
          </a:blip>
          <a:stretch>
            <a:fillRect/>
          </a:stretch>
        </p:blipFill>
        <p:spPr>
          <a:xfrm>
            <a:off x="4610350" y="1748775"/>
            <a:ext cx="3566476" cy="29538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latin typeface="Calibri"/>
                <a:ea typeface="Calibri"/>
                <a:cs typeface="Calibri"/>
                <a:sym typeface="Calibri"/>
              </a:rPr>
              <a:t>Reflection Strength depends on the contrast of materials</a:t>
            </a:r>
            <a:endParaRPr>
              <a:latin typeface="Calibri"/>
              <a:ea typeface="Calibri"/>
              <a:cs typeface="Calibri"/>
              <a:sym typeface="Calibri"/>
            </a:endParaRPr>
          </a:p>
        </p:txBody>
      </p:sp>
      <p:sp>
        <p:nvSpPr>
          <p:cNvPr id="307" name="Google Shape;307;p37"/>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308" name="Google Shape;308;p37"/>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graphicFrame>
        <p:nvGraphicFramePr>
          <p:cNvPr id="309" name="Google Shape;309;p37"/>
          <p:cNvGraphicFramePr/>
          <p:nvPr/>
        </p:nvGraphicFramePr>
        <p:xfrm>
          <a:off x="311700" y="1332050"/>
          <a:ext cx="3000000" cy="3000000"/>
        </p:xfrm>
        <a:graphic>
          <a:graphicData uri="http://schemas.openxmlformats.org/drawingml/2006/table">
            <a:tbl>
              <a:tblPr>
                <a:noFill/>
                <a:tableStyleId>{1ADA2F54-2538-4720-87F2-79A653811C8E}</a:tableStyleId>
              </a:tblPr>
              <a:tblGrid>
                <a:gridCol w="777475"/>
                <a:gridCol w="409125"/>
                <a:gridCol w="795550"/>
                <a:gridCol w="618925"/>
                <a:gridCol w="888175"/>
              </a:tblGrid>
              <a:tr h="416725">
                <a:tc>
                  <a:txBody>
                    <a:bodyPr/>
                    <a:lstStyle/>
                    <a:p>
                      <a:pPr indent="0" lvl="0" marL="0" rtl="0" algn="l">
                        <a:spcBef>
                          <a:spcPts val="0"/>
                        </a:spcBef>
                        <a:spcAft>
                          <a:spcPts val="0"/>
                        </a:spcAft>
                        <a:buNone/>
                      </a:pPr>
                      <a:r>
                        <a:rPr b="1" i="1" lang="es-419" sz="1000">
                          <a:latin typeface="Calibri"/>
                          <a:ea typeface="Calibri"/>
                          <a:cs typeface="Calibri"/>
                          <a:sym typeface="Calibri"/>
                        </a:rPr>
                        <a:t>Material 1</a:t>
                      </a:r>
                      <a:endParaRPr b="1" i="1"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i="1" lang="es-419" sz="1000">
                          <a:latin typeface="Calibri"/>
                          <a:ea typeface="Calibri"/>
                          <a:cs typeface="Calibri"/>
                          <a:sym typeface="Calibri"/>
                        </a:rPr>
                        <a:t>K1</a:t>
                      </a:r>
                      <a:endParaRPr b="1" i="1"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i="1" lang="es-419" sz="1000">
                          <a:solidFill>
                            <a:schemeClr val="dk1"/>
                          </a:solidFill>
                          <a:latin typeface="Calibri"/>
                          <a:ea typeface="Calibri"/>
                          <a:cs typeface="Calibri"/>
                          <a:sym typeface="Calibri"/>
                        </a:rPr>
                        <a:t>Material 2</a:t>
                      </a:r>
                      <a:endParaRPr b="1" i="1"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i="1" lang="es-419" sz="1000">
                          <a:latin typeface="Calibri"/>
                          <a:ea typeface="Calibri"/>
                          <a:cs typeface="Calibri"/>
                          <a:sym typeface="Calibri"/>
                        </a:rPr>
                        <a:t>K2</a:t>
                      </a:r>
                      <a:endParaRPr b="1" i="1"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i="1" lang="es-419" sz="1000">
                          <a:latin typeface="Calibri"/>
                          <a:ea typeface="Calibri"/>
                          <a:cs typeface="Calibri"/>
                          <a:sym typeface="Calibri"/>
                        </a:rPr>
                        <a:t>Reflectivity</a:t>
                      </a:r>
                      <a:endParaRPr b="1" i="1" sz="1000">
                        <a:latin typeface="Calibri"/>
                        <a:ea typeface="Calibri"/>
                        <a:cs typeface="Calibri"/>
                        <a:sym typeface="Calibri"/>
                      </a:endParaRPr>
                    </a:p>
                  </a:txBody>
                  <a:tcPr marT="91425" marB="91425" marR="91425" marL="91425"/>
                </a:tc>
              </a:tr>
              <a:tr h="416725">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Dry Sand</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5</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Rock</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6</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-5%</a:t>
                      </a:r>
                      <a:endParaRPr sz="1000">
                        <a:solidFill>
                          <a:schemeClr val="dk1"/>
                        </a:solidFill>
                        <a:latin typeface="Calibri"/>
                        <a:ea typeface="Calibri"/>
                        <a:cs typeface="Calibri"/>
                        <a:sym typeface="Calibri"/>
                      </a:endParaRPr>
                    </a:p>
                  </a:txBody>
                  <a:tcPr marT="91425" marB="91425" marR="91425" marL="91425"/>
                </a:tc>
              </a:tr>
              <a:tr h="416725">
                <a:tc>
                  <a:txBody>
                    <a:bodyPr/>
                    <a:lstStyle/>
                    <a:p>
                      <a:pPr indent="0" lvl="0" marL="0" rtl="0" algn="l">
                        <a:spcBef>
                          <a:spcPts val="0"/>
                        </a:spcBef>
                        <a:spcAft>
                          <a:spcPts val="0"/>
                        </a:spcAft>
                        <a:buNone/>
                      </a:pPr>
                      <a:r>
                        <a:rPr lang="es-419" sz="1000">
                          <a:latin typeface="Calibri"/>
                          <a:ea typeface="Calibri"/>
                          <a:cs typeface="Calibri"/>
                          <a:sym typeface="Calibri"/>
                        </a:rPr>
                        <a:t>Wet Sand</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25</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Rock</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6</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34%</a:t>
                      </a:r>
                      <a:endParaRPr sz="1000">
                        <a:latin typeface="Calibri"/>
                        <a:ea typeface="Calibri"/>
                        <a:cs typeface="Calibri"/>
                        <a:sym typeface="Calibri"/>
                      </a:endParaRPr>
                    </a:p>
                  </a:txBody>
                  <a:tcPr marT="91425" marB="91425" marR="91425" marL="91425"/>
                </a:tc>
              </a:tr>
              <a:tr h="416725">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Dry Sand</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5</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Wet Sand</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25</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-38%</a:t>
                      </a:r>
                      <a:endParaRPr sz="1000">
                        <a:solidFill>
                          <a:schemeClr val="dk1"/>
                        </a:solidFill>
                        <a:latin typeface="Calibri"/>
                        <a:ea typeface="Calibri"/>
                        <a:cs typeface="Calibri"/>
                        <a:sym typeface="Calibri"/>
                      </a:endParaRPr>
                    </a:p>
                  </a:txBody>
                  <a:tcPr marT="91425" marB="91425" marR="91425" marL="91425"/>
                </a:tc>
              </a:tr>
              <a:tr h="286500">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Rock</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6</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Air</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1</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42%</a:t>
                      </a:r>
                      <a:endParaRPr sz="1000">
                        <a:solidFill>
                          <a:schemeClr val="dk1"/>
                        </a:solidFill>
                        <a:latin typeface="Calibri"/>
                        <a:ea typeface="Calibri"/>
                        <a:cs typeface="Calibri"/>
                        <a:sym typeface="Calibri"/>
                      </a:endParaRPr>
                    </a:p>
                  </a:txBody>
                  <a:tcPr marT="91425" marB="91425" marR="91425" marL="91425"/>
                </a:tc>
              </a:tr>
              <a:tr h="286500">
                <a:tc>
                  <a:txBody>
                    <a:bodyPr/>
                    <a:lstStyle/>
                    <a:p>
                      <a:pPr indent="0" lvl="0" marL="0" rtl="0" algn="l">
                        <a:spcBef>
                          <a:spcPts val="0"/>
                        </a:spcBef>
                        <a:spcAft>
                          <a:spcPts val="0"/>
                        </a:spcAft>
                        <a:buNone/>
                      </a:pPr>
                      <a:r>
                        <a:rPr lang="es-419" sz="1000">
                          <a:latin typeface="Calibri"/>
                          <a:ea typeface="Calibri"/>
                          <a:cs typeface="Calibri"/>
                          <a:sym typeface="Calibri"/>
                        </a:rPr>
                        <a:t>Water</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80</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Rock</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6</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57%</a:t>
                      </a:r>
                      <a:endParaRPr sz="1000">
                        <a:latin typeface="Calibri"/>
                        <a:ea typeface="Calibri"/>
                        <a:cs typeface="Calibri"/>
                        <a:sym typeface="Calibri"/>
                      </a:endParaRPr>
                    </a:p>
                  </a:txBody>
                  <a:tcPr marT="91425" marB="91425" marR="91425" marL="91425"/>
                </a:tc>
              </a:tr>
              <a:tr h="286500">
                <a:tc>
                  <a:txBody>
                    <a:bodyPr/>
                    <a:lstStyle/>
                    <a:p>
                      <a:pPr indent="0" lvl="0" marL="0" rtl="0" algn="l">
                        <a:spcBef>
                          <a:spcPts val="0"/>
                        </a:spcBef>
                        <a:spcAft>
                          <a:spcPts val="0"/>
                        </a:spcAft>
                        <a:buNone/>
                      </a:pPr>
                      <a:r>
                        <a:rPr b="1" lang="es-419" sz="1000">
                          <a:solidFill>
                            <a:srgbClr val="1155CC"/>
                          </a:solidFill>
                          <a:latin typeface="Calibri"/>
                          <a:ea typeface="Calibri"/>
                          <a:cs typeface="Calibri"/>
                          <a:sym typeface="Calibri"/>
                        </a:rPr>
                        <a:t>Ice</a:t>
                      </a:r>
                      <a:endParaRPr b="1" sz="1000">
                        <a:solidFill>
                          <a:srgbClr val="1155CC"/>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s-419" sz="1000">
                          <a:solidFill>
                            <a:srgbClr val="1155CC"/>
                          </a:solidFill>
                          <a:latin typeface="Calibri"/>
                          <a:ea typeface="Calibri"/>
                          <a:cs typeface="Calibri"/>
                          <a:sym typeface="Calibri"/>
                        </a:rPr>
                        <a:t>3</a:t>
                      </a:r>
                      <a:endParaRPr b="1" sz="1000">
                        <a:solidFill>
                          <a:srgbClr val="1155CC"/>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s-419" sz="1000">
                          <a:solidFill>
                            <a:srgbClr val="1155CC"/>
                          </a:solidFill>
                          <a:latin typeface="Calibri"/>
                          <a:ea typeface="Calibri"/>
                          <a:cs typeface="Calibri"/>
                          <a:sym typeface="Calibri"/>
                        </a:rPr>
                        <a:t>Water</a:t>
                      </a:r>
                      <a:endParaRPr b="1" sz="1000">
                        <a:solidFill>
                          <a:srgbClr val="1155CC"/>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s-419" sz="1000">
                          <a:solidFill>
                            <a:srgbClr val="1155CC"/>
                          </a:solidFill>
                          <a:latin typeface="Calibri"/>
                          <a:ea typeface="Calibri"/>
                          <a:cs typeface="Calibri"/>
                          <a:sym typeface="Calibri"/>
                        </a:rPr>
                        <a:t>80</a:t>
                      </a:r>
                      <a:endParaRPr b="1" sz="1000">
                        <a:solidFill>
                          <a:srgbClr val="1155CC"/>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s-419" sz="1000">
                          <a:solidFill>
                            <a:srgbClr val="1155CC"/>
                          </a:solidFill>
                          <a:latin typeface="Calibri"/>
                          <a:ea typeface="Calibri"/>
                          <a:cs typeface="Calibri"/>
                          <a:sym typeface="Calibri"/>
                        </a:rPr>
                        <a:t>67%</a:t>
                      </a:r>
                      <a:endParaRPr b="1" sz="1000">
                        <a:solidFill>
                          <a:srgbClr val="1155CC"/>
                        </a:solidFill>
                        <a:latin typeface="Calibri"/>
                        <a:ea typeface="Calibri"/>
                        <a:cs typeface="Calibri"/>
                        <a:sym typeface="Calibri"/>
                      </a:endParaRPr>
                    </a:p>
                  </a:txBody>
                  <a:tcPr marT="91425" marB="91425" marR="91425" marL="91425"/>
                </a:tc>
              </a:tr>
              <a:tr h="416725">
                <a:tc>
                  <a:txBody>
                    <a:bodyPr/>
                    <a:lstStyle/>
                    <a:p>
                      <a:pPr indent="0" lvl="0" marL="0" rtl="0" algn="l">
                        <a:spcBef>
                          <a:spcPts val="0"/>
                        </a:spcBef>
                        <a:spcAft>
                          <a:spcPts val="0"/>
                        </a:spcAft>
                        <a:buNone/>
                      </a:pPr>
                      <a:r>
                        <a:rPr lang="es-419" sz="1000">
                          <a:latin typeface="Calibri"/>
                          <a:ea typeface="Calibri"/>
                          <a:cs typeface="Calibri"/>
                          <a:sym typeface="Calibri"/>
                        </a:rPr>
                        <a:t>Soil</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12</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Metal</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infinito</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100%</a:t>
                      </a:r>
                      <a:endParaRPr sz="1000">
                        <a:latin typeface="Calibri"/>
                        <a:ea typeface="Calibri"/>
                        <a:cs typeface="Calibri"/>
                        <a:sym typeface="Calibri"/>
                      </a:endParaRPr>
                    </a:p>
                  </a:txBody>
                  <a:tcPr marT="91425" marB="91425" marR="91425" marL="91425"/>
                </a:tc>
              </a:tr>
            </a:tbl>
          </a:graphicData>
        </a:graphic>
      </p:graphicFrame>
      <p:sp>
        <p:nvSpPr>
          <p:cNvPr id="310" name="Google Shape;310;p37"/>
          <p:cNvSpPr txBox="1"/>
          <p:nvPr/>
        </p:nvSpPr>
        <p:spPr>
          <a:xfrm>
            <a:off x="5563388" y="1332050"/>
            <a:ext cx="2334900" cy="3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311" name="Google Shape;311;p37"/>
          <p:cNvSpPr txBox="1"/>
          <p:nvPr/>
        </p:nvSpPr>
        <p:spPr>
          <a:xfrm>
            <a:off x="5563388" y="1332050"/>
            <a:ext cx="2334900" cy="3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Ice over Water</a:t>
            </a:r>
            <a:endParaRPr sz="1500">
              <a:solidFill>
                <a:schemeClr val="dk1"/>
              </a:solidFill>
              <a:latin typeface="Calibri"/>
              <a:ea typeface="Calibri"/>
              <a:cs typeface="Calibri"/>
              <a:sym typeface="Calibri"/>
            </a:endParaRPr>
          </a:p>
        </p:txBody>
      </p:sp>
      <p:pic>
        <p:nvPicPr>
          <p:cNvPr id="312" name="Google Shape;312;p37" title="Captura de pantalla 2025-04-24 095638.png"/>
          <p:cNvPicPr preferRelativeResize="0"/>
          <p:nvPr/>
        </p:nvPicPr>
        <p:blipFill>
          <a:blip r:embed="rId3">
            <a:alphaModFix/>
          </a:blip>
          <a:stretch>
            <a:fillRect/>
          </a:stretch>
        </p:blipFill>
        <p:spPr>
          <a:xfrm>
            <a:off x="4489750" y="1970924"/>
            <a:ext cx="3944950" cy="219455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latin typeface="Calibri"/>
                <a:ea typeface="Calibri"/>
                <a:cs typeface="Calibri"/>
                <a:sym typeface="Calibri"/>
              </a:rPr>
              <a:t>Reflection Strength depends on the contrast of materials</a:t>
            </a:r>
            <a:endParaRPr>
              <a:latin typeface="Calibri"/>
              <a:ea typeface="Calibri"/>
              <a:cs typeface="Calibri"/>
              <a:sym typeface="Calibri"/>
            </a:endParaRPr>
          </a:p>
        </p:txBody>
      </p:sp>
      <p:sp>
        <p:nvSpPr>
          <p:cNvPr id="318" name="Google Shape;318;p38"/>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319" name="Google Shape;319;p38"/>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graphicFrame>
        <p:nvGraphicFramePr>
          <p:cNvPr id="320" name="Google Shape;320;p38"/>
          <p:cNvGraphicFramePr/>
          <p:nvPr/>
        </p:nvGraphicFramePr>
        <p:xfrm>
          <a:off x="311700" y="1332050"/>
          <a:ext cx="3000000" cy="3000000"/>
        </p:xfrm>
        <a:graphic>
          <a:graphicData uri="http://schemas.openxmlformats.org/drawingml/2006/table">
            <a:tbl>
              <a:tblPr>
                <a:noFill/>
                <a:tableStyleId>{1ADA2F54-2538-4720-87F2-79A653811C8E}</a:tableStyleId>
              </a:tblPr>
              <a:tblGrid>
                <a:gridCol w="777475"/>
                <a:gridCol w="409125"/>
                <a:gridCol w="795550"/>
                <a:gridCol w="618925"/>
                <a:gridCol w="888175"/>
              </a:tblGrid>
              <a:tr h="416725">
                <a:tc>
                  <a:txBody>
                    <a:bodyPr/>
                    <a:lstStyle/>
                    <a:p>
                      <a:pPr indent="0" lvl="0" marL="0" rtl="0" algn="l">
                        <a:spcBef>
                          <a:spcPts val="0"/>
                        </a:spcBef>
                        <a:spcAft>
                          <a:spcPts val="0"/>
                        </a:spcAft>
                        <a:buNone/>
                      </a:pPr>
                      <a:r>
                        <a:rPr b="1" i="1" lang="es-419" sz="1000">
                          <a:latin typeface="Calibri"/>
                          <a:ea typeface="Calibri"/>
                          <a:cs typeface="Calibri"/>
                          <a:sym typeface="Calibri"/>
                        </a:rPr>
                        <a:t>Material 1</a:t>
                      </a:r>
                      <a:endParaRPr b="1" i="1"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i="1" lang="es-419" sz="1000">
                          <a:latin typeface="Calibri"/>
                          <a:ea typeface="Calibri"/>
                          <a:cs typeface="Calibri"/>
                          <a:sym typeface="Calibri"/>
                        </a:rPr>
                        <a:t>K1</a:t>
                      </a:r>
                      <a:endParaRPr b="1" i="1"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i="1" lang="es-419" sz="1000">
                          <a:solidFill>
                            <a:schemeClr val="dk1"/>
                          </a:solidFill>
                          <a:latin typeface="Calibri"/>
                          <a:ea typeface="Calibri"/>
                          <a:cs typeface="Calibri"/>
                          <a:sym typeface="Calibri"/>
                        </a:rPr>
                        <a:t>Material 2</a:t>
                      </a:r>
                      <a:endParaRPr b="1" i="1"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i="1" lang="es-419" sz="1000">
                          <a:latin typeface="Calibri"/>
                          <a:ea typeface="Calibri"/>
                          <a:cs typeface="Calibri"/>
                          <a:sym typeface="Calibri"/>
                        </a:rPr>
                        <a:t>K2</a:t>
                      </a:r>
                      <a:endParaRPr b="1" i="1"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i="1" lang="es-419" sz="1000">
                          <a:latin typeface="Calibri"/>
                          <a:ea typeface="Calibri"/>
                          <a:cs typeface="Calibri"/>
                          <a:sym typeface="Calibri"/>
                        </a:rPr>
                        <a:t>Reflectivity</a:t>
                      </a:r>
                      <a:endParaRPr b="1" i="1" sz="1000">
                        <a:latin typeface="Calibri"/>
                        <a:ea typeface="Calibri"/>
                        <a:cs typeface="Calibri"/>
                        <a:sym typeface="Calibri"/>
                      </a:endParaRPr>
                    </a:p>
                  </a:txBody>
                  <a:tcPr marT="91425" marB="91425" marR="91425" marL="91425"/>
                </a:tc>
              </a:tr>
              <a:tr h="416725">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Dry Sand</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5</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Rock</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6</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-5%</a:t>
                      </a:r>
                      <a:endParaRPr sz="1000">
                        <a:solidFill>
                          <a:schemeClr val="dk1"/>
                        </a:solidFill>
                        <a:latin typeface="Calibri"/>
                        <a:ea typeface="Calibri"/>
                        <a:cs typeface="Calibri"/>
                        <a:sym typeface="Calibri"/>
                      </a:endParaRPr>
                    </a:p>
                  </a:txBody>
                  <a:tcPr marT="91425" marB="91425" marR="91425" marL="91425"/>
                </a:tc>
              </a:tr>
              <a:tr h="416725">
                <a:tc>
                  <a:txBody>
                    <a:bodyPr/>
                    <a:lstStyle/>
                    <a:p>
                      <a:pPr indent="0" lvl="0" marL="0" rtl="0" algn="l">
                        <a:spcBef>
                          <a:spcPts val="0"/>
                        </a:spcBef>
                        <a:spcAft>
                          <a:spcPts val="0"/>
                        </a:spcAft>
                        <a:buNone/>
                      </a:pPr>
                      <a:r>
                        <a:rPr lang="es-419" sz="1000">
                          <a:latin typeface="Calibri"/>
                          <a:ea typeface="Calibri"/>
                          <a:cs typeface="Calibri"/>
                          <a:sym typeface="Calibri"/>
                        </a:rPr>
                        <a:t>Wet Sand</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25</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Rock</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6</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34%</a:t>
                      </a:r>
                      <a:endParaRPr sz="1000">
                        <a:latin typeface="Calibri"/>
                        <a:ea typeface="Calibri"/>
                        <a:cs typeface="Calibri"/>
                        <a:sym typeface="Calibri"/>
                      </a:endParaRPr>
                    </a:p>
                  </a:txBody>
                  <a:tcPr marT="91425" marB="91425" marR="91425" marL="91425"/>
                </a:tc>
              </a:tr>
              <a:tr h="416725">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Dry Sand</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5</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Wet Sand</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25</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-38%</a:t>
                      </a:r>
                      <a:endParaRPr sz="1000">
                        <a:solidFill>
                          <a:schemeClr val="dk1"/>
                        </a:solidFill>
                        <a:latin typeface="Calibri"/>
                        <a:ea typeface="Calibri"/>
                        <a:cs typeface="Calibri"/>
                        <a:sym typeface="Calibri"/>
                      </a:endParaRPr>
                    </a:p>
                  </a:txBody>
                  <a:tcPr marT="91425" marB="91425" marR="91425" marL="91425"/>
                </a:tc>
              </a:tr>
              <a:tr h="286500">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Rock</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6</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Air</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1</a:t>
                      </a:r>
                      <a:endParaRPr sz="1000">
                        <a:solidFill>
                          <a:schemeClr val="dk1"/>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42%</a:t>
                      </a:r>
                      <a:endParaRPr sz="1000">
                        <a:solidFill>
                          <a:schemeClr val="dk1"/>
                        </a:solidFill>
                        <a:latin typeface="Calibri"/>
                        <a:ea typeface="Calibri"/>
                        <a:cs typeface="Calibri"/>
                        <a:sym typeface="Calibri"/>
                      </a:endParaRPr>
                    </a:p>
                  </a:txBody>
                  <a:tcPr marT="91425" marB="91425" marR="91425" marL="91425"/>
                </a:tc>
              </a:tr>
              <a:tr h="286500">
                <a:tc>
                  <a:txBody>
                    <a:bodyPr/>
                    <a:lstStyle/>
                    <a:p>
                      <a:pPr indent="0" lvl="0" marL="0" rtl="0" algn="l">
                        <a:spcBef>
                          <a:spcPts val="0"/>
                        </a:spcBef>
                        <a:spcAft>
                          <a:spcPts val="0"/>
                        </a:spcAft>
                        <a:buNone/>
                      </a:pPr>
                      <a:r>
                        <a:rPr lang="es-419" sz="1000">
                          <a:latin typeface="Calibri"/>
                          <a:ea typeface="Calibri"/>
                          <a:cs typeface="Calibri"/>
                          <a:sym typeface="Calibri"/>
                        </a:rPr>
                        <a:t>Water</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80</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Rock</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6</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57%</a:t>
                      </a:r>
                      <a:endParaRPr sz="1000">
                        <a:latin typeface="Calibri"/>
                        <a:ea typeface="Calibri"/>
                        <a:cs typeface="Calibri"/>
                        <a:sym typeface="Calibri"/>
                      </a:endParaRPr>
                    </a:p>
                  </a:txBody>
                  <a:tcPr marT="91425" marB="91425" marR="91425" marL="91425"/>
                </a:tc>
              </a:tr>
              <a:tr h="286500">
                <a:tc>
                  <a:txBody>
                    <a:bodyPr/>
                    <a:lstStyle/>
                    <a:p>
                      <a:pPr indent="0" lvl="0" marL="0" rtl="0" algn="l">
                        <a:spcBef>
                          <a:spcPts val="0"/>
                        </a:spcBef>
                        <a:spcAft>
                          <a:spcPts val="0"/>
                        </a:spcAft>
                        <a:buNone/>
                      </a:pPr>
                      <a:r>
                        <a:rPr lang="es-419" sz="1000">
                          <a:latin typeface="Calibri"/>
                          <a:ea typeface="Calibri"/>
                          <a:cs typeface="Calibri"/>
                          <a:sym typeface="Calibri"/>
                        </a:rPr>
                        <a:t>Ice</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3</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Water</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80</a:t>
                      </a:r>
                      <a:endParaRPr sz="1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s-419" sz="1000">
                          <a:latin typeface="Calibri"/>
                          <a:ea typeface="Calibri"/>
                          <a:cs typeface="Calibri"/>
                          <a:sym typeface="Calibri"/>
                        </a:rPr>
                        <a:t>67%</a:t>
                      </a:r>
                      <a:endParaRPr sz="1000">
                        <a:latin typeface="Calibri"/>
                        <a:ea typeface="Calibri"/>
                        <a:cs typeface="Calibri"/>
                        <a:sym typeface="Calibri"/>
                      </a:endParaRPr>
                    </a:p>
                  </a:txBody>
                  <a:tcPr marT="91425" marB="91425" marR="91425" marL="91425"/>
                </a:tc>
              </a:tr>
              <a:tr h="416725">
                <a:tc>
                  <a:txBody>
                    <a:bodyPr/>
                    <a:lstStyle/>
                    <a:p>
                      <a:pPr indent="0" lvl="0" marL="0" rtl="0" algn="l">
                        <a:spcBef>
                          <a:spcPts val="0"/>
                        </a:spcBef>
                        <a:spcAft>
                          <a:spcPts val="0"/>
                        </a:spcAft>
                        <a:buNone/>
                      </a:pPr>
                      <a:r>
                        <a:rPr b="1" lang="es-419" sz="1000">
                          <a:solidFill>
                            <a:srgbClr val="1155CC"/>
                          </a:solidFill>
                          <a:latin typeface="Calibri"/>
                          <a:ea typeface="Calibri"/>
                          <a:cs typeface="Calibri"/>
                          <a:sym typeface="Calibri"/>
                        </a:rPr>
                        <a:t>Soil</a:t>
                      </a:r>
                      <a:endParaRPr b="1" sz="1000">
                        <a:solidFill>
                          <a:srgbClr val="1155CC"/>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s-419" sz="1000">
                          <a:solidFill>
                            <a:srgbClr val="1155CC"/>
                          </a:solidFill>
                          <a:latin typeface="Calibri"/>
                          <a:ea typeface="Calibri"/>
                          <a:cs typeface="Calibri"/>
                          <a:sym typeface="Calibri"/>
                        </a:rPr>
                        <a:t>12</a:t>
                      </a:r>
                      <a:endParaRPr b="1" sz="1000">
                        <a:solidFill>
                          <a:srgbClr val="1155CC"/>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s-419" sz="1000">
                          <a:solidFill>
                            <a:srgbClr val="1155CC"/>
                          </a:solidFill>
                          <a:latin typeface="Calibri"/>
                          <a:ea typeface="Calibri"/>
                          <a:cs typeface="Calibri"/>
                          <a:sym typeface="Calibri"/>
                        </a:rPr>
                        <a:t>Metal</a:t>
                      </a:r>
                      <a:endParaRPr b="1" sz="1000">
                        <a:solidFill>
                          <a:srgbClr val="1155CC"/>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s-419" sz="1000">
                          <a:solidFill>
                            <a:srgbClr val="1155CC"/>
                          </a:solidFill>
                          <a:latin typeface="Calibri"/>
                          <a:ea typeface="Calibri"/>
                          <a:cs typeface="Calibri"/>
                          <a:sym typeface="Calibri"/>
                        </a:rPr>
                        <a:t>infinito</a:t>
                      </a:r>
                      <a:endParaRPr b="1" sz="1000">
                        <a:solidFill>
                          <a:srgbClr val="1155CC"/>
                        </a:solidFill>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b="1" lang="es-419" sz="1000">
                          <a:solidFill>
                            <a:srgbClr val="1155CC"/>
                          </a:solidFill>
                          <a:latin typeface="Calibri"/>
                          <a:ea typeface="Calibri"/>
                          <a:cs typeface="Calibri"/>
                          <a:sym typeface="Calibri"/>
                        </a:rPr>
                        <a:t>100%</a:t>
                      </a:r>
                      <a:endParaRPr b="1" sz="1000">
                        <a:solidFill>
                          <a:srgbClr val="1155CC"/>
                        </a:solidFill>
                        <a:latin typeface="Calibri"/>
                        <a:ea typeface="Calibri"/>
                        <a:cs typeface="Calibri"/>
                        <a:sym typeface="Calibri"/>
                      </a:endParaRPr>
                    </a:p>
                  </a:txBody>
                  <a:tcPr marT="91425" marB="91425" marR="91425" marL="91425"/>
                </a:tc>
              </a:tr>
            </a:tbl>
          </a:graphicData>
        </a:graphic>
      </p:graphicFrame>
      <p:sp>
        <p:nvSpPr>
          <p:cNvPr id="321" name="Google Shape;321;p38"/>
          <p:cNvSpPr txBox="1"/>
          <p:nvPr/>
        </p:nvSpPr>
        <p:spPr>
          <a:xfrm>
            <a:off x="5563388" y="1332050"/>
            <a:ext cx="2334900" cy="3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322" name="Google Shape;322;p38"/>
          <p:cNvSpPr txBox="1"/>
          <p:nvPr/>
        </p:nvSpPr>
        <p:spPr>
          <a:xfrm>
            <a:off x="5563388" y="1332050"/>
            <a:ext cx="2334900" cy="3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Metal Utility in Soil</a:t>
            </a:r>
            <a:endParaRPr sz="1500">
              <a:solidFill>
                <a:schemeClr val="dk1"/>
              </a:solidFill>
              <a:latin typeface="Calibri"/>
              <a:ea typeface="Calibri"/>
              <a:cs typeface="Calibri"/>
              <a:sym typeface="Calibri"/>
            </a:endParaRPr>
          </a:p>
        </p:txBody>
      </p:sp>
      <p:pic>
        <p:nvPicPr>
          <p:cNvPr id="323" name="Google Shape;323;p38" title="Captura de pantalla 2025-04-23 231010.png"/>
          <p:cNvPicPr preferRelativeResize="0"/>
          <p:nvPr/>
        </p:nvPicPr>
        <p:blipFill>
          <a:blip r:embed="rId3">
            <a:alphaModFix/>
          </a:blip>
          <a:stretch>
            <a:fillRect/>
          </a:stretch>
        </p:blipFill>
        <p:spPr>
          <a:xfrm>
            <a:off x="4362650" y="1748774"/>
            <a:ext cx="3577275" cy="26571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s-419" sz="2220">
                <a:latin typeface="Calibri"/>
                <a:ea typeface="Calibri"/>
                <a:cs typeface="Calibri"/>
                <a:sym typeface="Calibri"/>
              </a:rPr>
              <a:t>Today → metallic and non metallic pipes</a:t>
            </a:r>
            <a:endParaRPr sz="2220">
              <a:latin typeface="Calibri"/>
              <a:ea typeface="Calibri"/>
              <a:cs typeface="Calibri"/>
              <a:sym typeface="Calibri"/>
            </a:endParaRPr>
          </a:p>
        </p:txBody>
      </p:sp>
      <p:sp>
        <p:nvSpPr>
          <p:cNvPr id="329" name="Google Shape;329;p39"/>
          <p:cNvSpPr txBox="1"/>
          <p:nvPr>
            <p:ph idx="1" type="body"/>
          </p:nvPr>
        </p:nvSpPr>
        <p:spPr>
          <a:xfrm>
            <a:off x="250900" y="1152550"/>
            <a:ext cx="8520600" cy="34164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457200" rtl="0" algn="l">
              <a:spcBef>
                <a:spcPts val="1200"/>
              </a:spcBef>
              <a:spcAft>
                <a:spcPts val="0"/>
              </a:spcAft>
              <a:buNone/>
            </a:pPr>
            <a:r>
              <a:rPr lang="es-419"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highlight>
                <a:schemeClr val="lt1"/>
              </a:highlight>
              <a:latin typeface="Calibri"/>
              <a:ea typeface="Calibri"/>
              <a:cs typeface="Calibri"/>
              <a:sym typeface="Calibri"/>
            </a:endParaRPr>
          </a:p>
          <a:p>
            <a:pPr indent="0" lvl="0" marL="457200" rtl="0" algn="l">
              <a:spcBef>
                <a:spcPts val="1200"/>
              </a:spcBef>
              <a:spcAft>
                <a:spcPts val="1200"/>
              </a:spcAft>
              <a:buNone/>
            </a:pPr>
            <a:r>
              <a:t/>
            </a:r>
            <a:endParaRPr sz="800">
              <a:solidFill>
                <a:schemeClr val="dk1"/>
              </a:solidFill>
              <a:latin typeface="Calibri"/>
              <a:ea typeface="Calibri"/>
              <a:cs typeface="Calibri"/>
              <a:sym typeface="Calibri"/>
            </a:endParaRPr>
          </a:p>
        </p:txBody>
      </p:sp>
      <p:sp>
        <p:nvSpPr>
          <p:cNvPr id="330" name="Google Shape;330;p39"/>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331" name="Google Shape;331;p39"/>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pic>
        <p:nvPicPr>
          <p:cNvPr id="332" name="Google Shape;332;p39" title="Captura de pantalla 2025-04-23 224303.png"/>
          <p:cNvPicPr preferRelativeResize="0"/>
          <p:nvPr/>
        </p:nvPicPr>
        <p:blipFill>
          <a:blip r:embed="rId3">
            <a:alphaModFix/>
          </a:blip>
          <a:stretch>
            <a:fillRect/>
          </a:stretch>
        </p:blipFill>
        <p:spPr>
          <a:xfrm>
            <a:off x="168850" y="1201900"/>
            <a:ext cx="2702399" cy="1498075"/>
          </a:xfrm>
          <a:prstGeom prst="rect">
            <a:avLst/>
          </a:prstGeom>
          <a:noFill/>
          <a:ln>
            <a:noFill/>
          </a:ln>
        </p:spPr>
      </p:pic>
      <p:pic>
        <p:nvPicPr>
          <p:cNvPr id="333" name="Google Shape;333;p39" title="Captura de pantalla 2025-04-23 224139.png"/>
          <p:cNvPicPr preferRelativeResize="0"/>
          <p:nvPr/>
        </p:nvPicPr>
        <p:blipFill>
          <a:blip r:embed="rId4">
            <a:alphaModFix/>
          </a:blip>
          <a:stretch>
            <a:fillRect/>
          </a:stretch>
        </p:blipFill>
        <p:spPr>
          <a:xfrm>
            <a:off x="5703550" y="661925"/>
            <a:ext cx="3307325" cy="1909824"/>
          </a:xfrm>
          <a:prstGeom prst="rect">
            <a:avLst/>
          </a:prstGeom>
          <a:noFill/>
          <a:ln>
            <a:noFill/>
          </a:ln>
        </p:spPr>
      </p:pic>
      <p:pic>
        <p:nvPicPr>
          <p:cNvPr id="334" name="Google Shape;334;p39" title="Captura de pantalla 2025-04-23 224042.png"/>
          <p:cNvPicPr preferRelativeResize="0"/>
          <p:nvPr/>
        </p:nvPicPr>
        <p:blipFill>
          <a:blip r:embed="rId5">
            <a:alphaModFix/>
          </a:blip>
          <a:stretch>
            <a:fillRect/>
          </a:stretch>
        </p:blipFill>
        <p:spPr>
          <a:xfrm>
            <a:off x="5917012" y="2615175"/>
            <a:ext cx="2880388" cy="2280301"/>
          </a:xfrm>
          <a:prstGeom prst="rect">
            <a:avLst/>
          </a:prstGeom>
          <a:noFill/>
          <a:ln>
            <a:noFill/>
          </a:ln>
        </p:spPr>
      </p:pic>
      <p:pic>
        <p:nvPicPr>
          <p:cNvPr id="335" name="Google Shape;335;p39" title="Captura de pantalla 2025-04-23 224351.png"/>
          <p:cNvPicPr preferRelativeResize="0"/>
          <p:nvPr/>
        </p:nvPicPr>
        <p:blipFill>
          <a:blip r:embed="rId6">
            <a:alphaModFix/>
          </a:blip>
          <a:stretch>
            <a:fillRect/>
          </a:stretch>
        </p:blipFill>
        <p:spPr>
          <a:xfrm>
            <a:off x="2984000" y="986825"/>
            <a:ext cx="2702401" cy="1713146"/>
          </a:xfrm>
          <a:prstGeom prst="rect">
            <a:avLst/>
          </a:prstGeom>
          <a:noFill/>
          <a:ln>
            <a:noFill/>
          </a:ln>
        </p:spPr>
      </p:pic>
      <p:pic>
        <p:nvPicPr>
          <p:cNvPr id="336" name="Google Shape;336;p39" title="Captura de pantalla 2025-04-23 224232.png"/>
          <p:cNvPicPr preferRelativeResize="0"/>
          <p:nvPr/>
        </p:nvPicPr>
        <p:blipFill>
          <a:blip r:embed="rId7">
            <a:alphaModFix/>
          </a:blip>
          <a:stretch>
            <a:fillRect/>
          </a:stretch>
        </p:blipFill>
        <p:spPr>
          <a:xfrm>
            <a:off x="2371975" y="3108975"/>
            <a:ext cx="3262384" cy="1829926"/>
          </a:xfrm>
          <a:prstGeom prst="rect">
            <a:avLst/>
          </a:prstGeom>
          <a:noFill/>
          <a:ln>
            <a:noFill/>
          </a:ln>
        </p:spPr>
      </p:pic>
      <p:pic>
        <p:nvPicPr>
          <p:cNvPr id="337" name="Google Shape;337;p39" title="Captura de pantalla 2025-04-23 230223.png"/>
          <p:cNvPicPr preferRelativeResize="0"/>
          <p:nvPr/>
        </p:nvPicPr>
        <p:blipFill>
          <a:blip r:embed="rId8">
            <a:alphaModFix/>
          </a:blip>
          <a:stretch>
            <a:fillRect/>
          </a:stretch>
        </p:blipFill>
        <p:spPr>
          <a:xfrm>
            <a:off x="168850" y="2723350"/>
            <a:ext cx="2203134" cy="21921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latin typeface="Calibri"/>
                <a:ea typeface="Calibri"/>
                <a:cs typeface="Calibri"/>
                <a:sym typeface="Calibri"/>
              </a:rPr>
              <a:t>Summary</a:t>
            </a:r>
            <a:endParaRPr>
              <a:latin typeface="Calibri"/>
              <a:ea typeface="Calibri"/>
              <a:cs typeface="Calibri"/>
              <a:sym typeface="Calibri"/>
            </a:endParaRPr>
          </a:p>
        </p:txBody>
      </p:sp>
      <p:sp>
        <p:nvSpPr>
          <p:cNvPr id="343" name="Google Shape;343;p40"/>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344" name="Google Shape;344;p40"/>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sp>
        <p:nvSpPr>
          <p:cNvPr id="345" name="Google Shape;345;p40"/>
          <p:cNvSpPr txBox="1"/>
          <p:nvPr/>
        </p:nvSpPr>
        <p:spPr>
          <a:xfrm>
            <a:off x="2676475" y="551275"/>
            <a:ext cx="3357300" cy="60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solidFill>
                <a:schemeClr val="dk2"/>
              </a:solidFill>
            </a:endParaRPr>
          </a:p>
        </p:txBody>
      </p:sp>
      <p:pic>
        <p:nvPicPr>
          <p:cNvPr id="346" name="Google Shape;346;p40" title="summary1.mp4">
            <a:hlinkClick r:id="rId3"/>
          </p:cNvPr>
          <p:cNvPicPr preferRelativeResize="0"/>
          <p:nvPr/>
        </p:nvPicPr>
        <p:blipFill>
          <a:blip r:embed="rId4">
            <a:alphaModFix/>
          </a:blip>
          <a:stretch>
            <a:fillRect/>
          </a:stretch>
        </p:blipFill>
        <p:spPr>
          <a:xfrm>
            <a:off x="2737275" y="1152550"/>
            <a:ext cx="4642168" cy="3481626"/>
          </a:xfrm>
          <a:prstGeom prst="rect">
            <a:avLst/>
          </a:prstGeom>
          <a:noFill/>
          <a:ln>
            <a:noFill/>
          </a:ln>
        </p:spPr>
      </p:pic>
      <p:sp>
        <p:nvSpPr>
          <p:cNvPr id="347" name="Google Shape;347;p40"/>
          <p:cNvSpPr txBox="1"/>
          <p:nvPr/>
        </p:nvSpPr>
        <p:spPr>
          <a:xfrm>
            <a:off x="3129075" y="707525"/>
            <a:ext cx="5059800" cy="31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dk1"/>
                </a:solidFill>
                <a:latin typeface="Calibri"/>
                <a:ea typeface="Calibri"/>
                <a:cs typeface="Calibri"/>
                <a:sym typeface="Calibri"/>
              </a:rPr>
              <a:t>Computer simulation of GPR signals</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gtEl>
                                        <p:attrNameLst>
                                          <p:attrName>style.visibility</p:attrName>
                                        </p:attrNameLst>
                                      </p:cBhvr>
                                      <p:to>
                                        <p:strVal val="visible"/>
                                      </p:to>
                                    </p:set>
                                    <p:animEffect filter="fade" transition="in">
                                      <p:cBhvr>
                                        <p:cTn dur="1000"/>
                                        <p:tgtEl>
                                          <p:spTgt spid="3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latin typeface="Calibri"/>
                <a:ea typeface="Calibri"/>
                <a:cs typeface="Calibri"/>
                <a:sym typeface="Calibri"/>
              </a:rPr>
              <a:t>Summary</a:t>
            </a:r>
            <a:endParaRPr>
              <a:latin typeface="Calibri"/>
              <a:ea typeface="Calibri"/>
              <a:cs typeface="Calibri"/>
              <a:sym typeface="Calibri"/>
            </a:endParaRPr>
          </a:p>
        </p:txBody>
      </p:sp>
      <p:sp>
        <p:nvSpPr>
          <p:cNvPr id="353" name="Google Shape;353;p41"/>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354" name="Google Shape;354;p41"/>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pic>
        <p:nvPicPr>
          <p:cNvPr id="355" name="Google Shape;355;p41" title="summary2.mp4">
            <a:hlinkClick r:id="rId3"/>
          </p:cNvPr>
          <p:cNvPicPr preferRelativeResize="0"/>
          <p:nvPr/>
        </p:nvPicPr>
        <p:blipFill>
          <a:blip r:embed="rId4">
            <a:alphaModFix/>
          </a:blip>
          <a:stretch>
            <a:fillRect/>
          </a:stretch>
        </p:blipFill>
        <p:spPr>
          <a:xfrm>
            <a:off x="2748325" y="1152550"/>
            <a:ext cx="4572000" cy="3429000"/>
          </a:xfrm>
          <a:prstGeom prst="rect">
            <a:avLst/>
          </a:prstGeom>
          <a:noFill/>
          <a:ln>
            <a:noFill/>
          </a:ln>
        </p:spPr>
      </p:pic>
      <p:sp>
        <p:nvSpPr>
          <p:cNvPr id="356" name="Google Shape;356;p41"/>
          <p:cNvSpPr txBox="1"/>
          <p:nvPr/>
        </p:nvSpPr>
        <p:spPr>
          <a:xfrm>
            <a:off x="3129075" y="707525"/>
            <a:ext cx="5059800" cy="31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dk1"/>
                </a:solidFill>
                <a:latin typeface="Calibri"/>
                <a:ea typeface="Calibri"/>
                <a:cs typeface="Calibri"/>
                <a:sym typeface="Calibri"/>
              </a:rPr>
              <a:t>Reflections at boundaries</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5"/>
                                        </p:tgtEl>
                                        <p:attrNameLst>
                                          <p:attrName>style.visibility</p:attrName>
                                        </p:attrNameLst>
                                      </p:cBhvr>
                                      <p:to>
                                        <p:strVal val="visible"/>
                                      </p:to>
                                    </p:set>
                                    <p:animEffect filter="fade" transition="in">
                                      <p:cBhvr>
                                        <p:cTn dur="1000"/>
                                        <p:tgtEl>
                                          <p:spTgt spid="3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latin typeface="Calibri"/>
                <a:ea typeface="Calibri"/>
                <a:cs typeface="Calibri"/>
                <a:sym typeface="Calibri"/>
              </a:rPr>
              <a:t>Summary</a:t>
            </a:r>
            <a:endParaRPr>
              <a:latin typeface="Calibri"/>
              <a:ea typeface="Calibri"/>
              <a:cs typeface="Calibri"/>
              <a:sym typeface="Calibri"/>
            </a:endParaRPr>
          </a:p>
        </p:txBody>
      </p:sp>
      <p:sp>
        <p:nvSpPr>
          <p:cNvPr id="362" name="Google Shape;362;p42"/>
          <p:cNvSpPr txBox="1"/>
          <p:nvPr>
            <p:ph idx="1" type="body"/>
          </p:nvPr>
        </p:nvSpPr>
        <p:spPr>
          <a:xfrm>
            <a:off x="311700" y="1152475"/>
            <a:ext cx="8520600" cy="34911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419" sz="1200">
                <a:solidFill>
                  <a:srgbClr val="1155CC"/>
                </a:solidFill>
                <a:latin typeface="Calibri"/>
                <a:ea typeface="Calibri"/>
                <a:cs typeface="Calibri"/>
                <a:sym typeface="Calibri"/>
              </a:rPr>
              <a:t>GPR is able to detect boundaries between materials with different dielectric permittivity.</a:t>
            </a:r>
            <a:br>
              <a:rPr b="1" lang="es-419" sz="1200">
                <a:solidFill>
                  <a:schemeClr val="dk1"/>
                </a:solidFill>
                <a:latin typeface="Calibri"/>
                <a:ea typeface="Calibri"/>
                <a:cs typeface="Calibri"/>
                <a:sym typeface="Calibri"/>
              </a:rPr>
            </a:br>
            <a:r>
              <a:rPr lang="es-419" sz="1200">
                <a:solidFill>
                  <a:schemeClr val="dk1"/>
                </a:solidFill>
                <a:latin typeface="Calibri"/>
                <a:ea typeface="Calibri"/>
                <a:cs typeface="Calibri"/>
                <a:sym typeface="Calibri"/>
              </a:rPr>
              <a:t> → The greater the contrast, the better the signal reflection.</a:t>
            </a:r>
            <a:br>
              <a:rPr lang="es-419"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indent="0" lvl="0" marL="0" rtl="0" algn="l">
              <a:spcBef>
                <a:spcPts val="1200"/>
              </a:spcBef>
              <a:spcAft>
                <a:spcPts val="0"/>
              </a:spcAft>
              <a:buClr>
                <a:schemeClr val="dk1"/>
              </a:buClr>
              <a:buSzPts val="1100"/>
              <a:buFont typeface="Arial"/>
              <a:buNone/>
            </a:pPr>
            <a:r>
              <a:rPr b="1" lang="es-419" sz="1200">
                <a:solidFill>
                  <a:srgbClr val="1155CC"/>
                </a:solidFill>
                <a:latin typeface="Calibri"/>
                <a:ea typeface="Calibri"/>
                <a:cs typeface="Calibri"/>
                <a:sym typeface="Calibri"/>
              </a:rPr>
              <a:t>Electromagnetic waves travel differently depending on the dielectric permittivity of the soil.</a:t>
            </a:r>
            <a:br>
              <a:rPr b="1" lang="es-419" sz="1200">
                <a:solidFill>
                  <a:schemeClr val="dk1"/>
                </a:solidFill>
                <a:latin typeface="Calibri"/>
                <a:ea typeface="Calibri"/>
                <a:cs typeface="Calibri"/>
                <a:sym typeface="Calibri"/>
              </a:rPr>
            </a:br>
            <a:r>
              <a:rPr lang="es-419" sz="1200">
                <a:solidFill>
                  <a:schemeClr val="dk1"/>
                </a:solidFill>
                <a:latin typeface="Calibri"/>
                <a:ea typeface="Calibri"/>
                <a:cs typeface="Calibri"/>
                <a:sym typeface="Calibri"/>
              </a:rPr>
              <a:t> → This difference helps determine the depth of objects using the travel time formula.</a:t>
            </a:r>
            <a:br>
              <a:rPr lang="es-419"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indent="0" lvl="0" marL="0" rtl="0" algn="l">
              <a:spcBef>
                <a:spcPts val="1200"/>
              </a:spcBef>
              <a:spcAft>
                <a:spcPts val="0"/>
              </a:spcAft>
              <a:buNone/>
            </a:pPr>
            <a:r>
              <a:rPr b="1" lang="es-419" sz="1200">
                <a:solidFill>
                  <a:srgbClr val="1155CC"/>
                </a:solidFill>
                <a:latin typeface="Calibri"/>
                <a:ea typeface="Calibri"/>
                <a:cs typeface="Calibri"/>
                <a:sym typeface="Calibri"/>
              </a:rPr>
              <a:t>Soil conductivity affects signal attenuation.</a:t>
            </a:r>
            <a:br>
              <a:rPr b="1" lang="es-419" sz="1200">
                <a:solidFill>
                  <a:schemeClr val="dk1"/>
                </a:solidFill>
                <a:latin typeface="Calibri"/>
                <a:ea typeface="Calibri"/>
                <a:cs typeface="Calibri"/>
                <a:sym typeface="Calibri"/>
              </a:rPr>
            </a:br>
            <a:r>
              <a:rPr lang="es-419" sz="1200">
                <a:solidFill>
                  <a:schemeClr val="dk1"/>
                </a:solidFill>
                <a:latin typeface="Calibri"/>
                <a:ea typeface="Calibri"/>
                <a:cs typeface="Calibri"/>
                <a:sym typeface="Calibri"/>
              </a:rPr>
              <a:t> → The higher the conductivity, the greater the interaction between the signal and the soil, leading to more energy dissipation. This </a:t>
            </a:r>
            <a:r>
              <a:rPr lang="es-419" sz="1200">
                <a:solidFill>
                  <a:schemeClr val="dk1"/>
                </a:solidFill>
                <a:latin typeface="Calibri"/>
                <a:ea typeface="Calibri"/>
                <a:cs typeface="Calibri"/>
                <a:sym typeface="Calibri"/>
              </a:rPr>
              <a:t>leading</a:t>
            </a:r>
            <a:r>
              <a:rPr lang="es-419" sz="1200">
                <a:solidFill>
                  <a:schemeClr val="dk1"/>
                </a:solidFill>
                <a:latin typeface="Calibri"/>
                <a:ea typeface="Calibri"/>
                <a:cs typeface="Calibri"/>
                <a:sym typeface="Calibri"/>
              </a:rPr>
              <a:t> to lower penetration depths.</a:t>
            </a:r>
            <a:endParaRPr sz="1200">
              <a:solidFill>
                <a:schemeClr val="dk1"/>
              </a:solidFill>
              <a:latin typeface="Calibri"/>
              <a:ea typeface="Calibri"/>
              <a:cs typeface="Calibri"/>
              <a:sym typeface="Calibri"/>
            </a:endParaRPr>
          </a:p>
          <a:p>
            <a:pPr indent="0" lvl="0" marL="0" rtl="0" algn="l">
              <a:spcBef>
                <a:spcPts val="1200"/>
              </a:spcBef>
              <a:spcAft>
                <a:spcPts val="0"/>
              </a:spcAft>
              <a:buClr>
                <a:schemeClr val="dk1"/>
              </a:buClr>
              <a:buSzPts val="1100"/>
              <a:buFont typeface="Arial"/>
              <a:buNone/>
            </a:pPr>
            <a:r>
              <a:rPr b="1" lang="es-419" sz="1200">
                <a:solidFill>
                  <a:srgbClr val="1155CC"/>
                </a:solidFill>
                <a:latin typeface="Calibri"/>
                <a:ea typeface="Calibri"/>
                <a:cs typeface="Calibri"/>
                <a:sym typeface="Calibri"/>
              </a:rPr>
              <a:t>The frequency of the antenna affects depth and resolution.</a:t>
            </a:r>
            <a:br>
              <a:rPr b="1" lang="es-419" sz="1200">
                <a:solidFill>
                  <a:schemeClr val="dk1"/>
                </a:solidFill>
                <a:latin typeface="Calibri"/>
                <a:ea typeface="Calibri"/>
                <a:cs typeface="Calibri"/>
                <a:sym typeface="Calibri"/>
              </a:rPr>
            </a:br>
            <a:r>
              <a:rPr lang="es-419" sz="1200">
                <a:solidFill>
                  <a:schemeClr val="dk1"/>
                </a:solidFill>
                <a:latin typeface="Calibri"/>
                <a:ea typeface="Calibri"/>
                <a:cs typeface="Calibri"/>
                <a:sym typeface="Calibri"/>
              </a:rPr>
              <a:t> → </a:t>
            </a:r>
            <a:r>
              <a:rPr b="1" lang="es-419" sz="1200">
                <a:solidFill>
                  <a:schemeClr val="dk1"/>
                </a:solidFill>
                <a:latin typeface="Calibri"/>
                <a:ea typeface="Calibri"/>
                <a:cs typeface="Calibri"/>
                <a:sym typeface="Calibri"/>
              </a:rPr>
              <a:t>Low-frequency antennas</a:t>
            </a:r>
            <a:r>
              <a:rPr lang="es-419" sz="1200">
                <a:solidFill>
                  <a:schemeClr val="dk1"/>
                </a:solidFill>
                <a:latin typeface="Calibri"/>
                <a:ea typeface="Calibri"/>
                <a:cs typeface="Calibri"/>
                <a:sym typeface="Calibri"/>
              </a:rPr>
              <a:t> penetrate deeper but offer lower resolution.</a:t>
            </a:r>
            <a:br>
              <a:rPr lang="es-419" sz="1200">
                <a:solidFill>
                  <a:schemeClr val="dk1"/>
                </a:solidFill>
                <a:latin typeface="Calibri"/>
                <a:ea typeface="Calibri"/>
                <a:cs typeface="Calibri"/>
                <a:sym typeface="Calibri"/>
              </a:rPr>
            </a:br>
            <a:r>
              <a:rPr lang="es-419" sz="1200">
                <a:solidFill>
                  <a:schemeClr val="dk1"/>
                </a:solidFill>
                <a:latin typeface="Calibri"/>
                <a:ea typeface="Calibri"/>
                <a:cs typeface="Calibri"/>
                <a:sym typeface="Calibri"/>
              </a:rPr>
              <a:t> → </a:t>
            </a:r>
            <a:r>
              <a:rPr b="1" lang="es-419" sz="1200">
                <a:solidFill>
                  <a:schemeClr val="dk1"/>
                </a:solidFill>
                <a:latin typeface="Calibri"/>
                <a:ea typeface="Calibri"/>
                <a:cs typeface="Calibri"/>
                <a:sym typeface="Calibri"/>
              </a:rPr>
              <a:t>High-frequency antennas</a:t>
            </a:r>
            <a:r>
              <a:rPr lang="es-419" sz="1200">
                <a:solidFill>
                  <a:schemeClr val="dk1"/>
                </a:solidFill>
                <a:latin typeface="Calibri"/>
                <a:ea typeface="Calibri"/>
                <a:cs typeface="Calibri"/>
                <a:sym typeface="Calibri"/>
              </a:rPr>
              <a:t> provide better resolution but have limited penetration depth.</a:t>
            </a: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457200" rtl="0" algn="l">
              <a:spcBef>
                <a:spcPts val="1200"/>
              </a:spcBef>
              <a:spcAft>
                <a:spcPts val="0"/>
              </a:spcAft>
              <a:buNone/>
            </a:pPr>
            <a:r>
              <a:rPr lang="es-419"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highlight>
                <a:schemeClr val="lt1"/>
              </a:highlight>
              <a:latin typeface="Calibri"/>
              <a:ea typeface="Calibri"/>
              <a:cs typeface="Calibri"/>
              <a:sym typeface="Calibri"/>
            </a:endParaRPr>
          </a:p>
          <a:p>
            <a:pPr indent="0" lvl="0" marL="457200" rtl="0" algn="l">
              <a:spcBef>
                <a:spcPts val="1200"/>
              </a:spcBef>
              <a:spcAft>
                <a:spcPts val="1200"/>
              </a:spcAft>
              <a:buNone/>
            </a:pPr>
            <a:r>
              <a:t/>
            </a:r>
            <a:endParaRPr sz="800">
              <a:solidFill>
                <a:schemeClr val="dk1"/>
              </a:solidFill>
              <a:latin typeface="Calibri"/>
              <a:ea typeface="Calibri"/>
              <a:cs typeface="Calibri"/>
              <a:sym typeface="Calibri"/>
            </a:endParaRPr>
          </a:p>
        </p:txBody>
      </p:sp>
      <p:sp>
        <p:nvSpPr>
          <p:cNvPr id="363" name="Google Shape;363;p42"/>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364" name="Google Shape;364;p42"/>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sp>
        <p:nvSpPr>
          <p:cNvPr id="365" name="Google Shape;365;p42"/>
          <p:cNvSpPr txBox="1"/>
          <p:nvPr/>
        </p:nvSpPr>
        <p:spPr>
          <a:xfrm>
            <a:off x="2676475" y="551275"/>
            <a:ext cx="3357300" cy="60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600">
              <a:solidFill>
                <a:schemeClr val="dk2"/>
              </a:solidFill>
            </a:endParaRPr>
          </a:p>
        </p:txBody>
      </p:sp>
      <p:pic>
        <p:nvPicPr>
          <p:cNvPr id="366" name="Google Shape;366;p42" title="Captura de pantalla 2025-04-23 201927.png"/>
          <p:cNvPicPr preferRelativeResize="0"/>
          <p:nvPr/>
        </p:nvPicPr>
        <p:blipFill>
          <a:blip r:embed="rId3">
            <a:alphaModFix/>
          </a:blip>
          <a:stretch>
            <a:fillRect/>
          </a:stretch>
        </p:blipFill>
        <p:spPr>
          <a:xfrm>
            <a:off x="6457995" y="2071925"/>
            <a:ext cx="1859150" cy="4227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3"/>
          <p:cNvSpPr txBox="1"/>
          <p:nvPr>
            <p:ph type="title"/>
          </p:nvPr>
        </p:nvSpPr>
        <p:spPr>
          <a:xfrm>
            <a:off x="2574725" y="1944725"/>
            <a:ext cx="4850700" cy="1969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2356">
                <a:latin typeface="Calibri"/>
                <a:ea typeface="Calibri"/>
                <a:cs typeface="Calibri"/>
                <a:sym typeface="Calibri"/>
              </a:rPr>
              <a:t>Done! … Time to use the Radar!</a:t>
            </a:r>
            <a:endParaRPr sz="1800">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
        <p:nvSpPr>
          <p:cNvPr id="372" name="Google Shape;372;p43"/>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373" name="Google Shape;373;p43"/>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4"/>
          <p:cNvSpPr txBox="1"/>
          <p:nvPr>
            <p:ph type="title"/>
          </p:nvPr>
        </p:nvSpPr>
        <p:spPr>
          <a:xfrm>
            <a:off x="2574725" y="1944725"/>
            <a:ext cx="4850700" cy="1969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2356">
                <a:latin typeface="Calibri"/>
                <a:ea typeface="Calibri"/>
                <a:cs typeface="Calibri"/>
                <a:sym typeface="Calibri"/>
              </a:rPr>
              <a:t>Done! … Time to use the Radar!</a:t>
            </a:r>
            <a:endParaRPr sz="1800">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s-419" sz="1600">
                <a:solidFill>
                  <a:srgbClr val="FF0000"/>
                </a:solidFill>
                <a:latin typeface="Calibri"/>
                <a:ea typeface="Calibri"/>
                <a:cs typeface="Calibri"/>
                <a:sym typeface="Calibri"/>
              </a:rPr>
              <a:t>but before that…</a:t>
            </a:r>
            <a:endParaRPr sz="1600">
              <a:solidFill>
                <a:srgbClr val="FF0000"/>
              </a:solidFill>
              <a:latin typeface="Calibri"/>
              <a:ea typeface="Calibri"/>
              <a:cs typeface="Calibri"/>
              <a:sym typeface="Calibri"/>
            </a:endParaRPr>
          </a:p>
        </p:txBody>
      </p:sp>
      <p:sp>
        <p:nvSpPr>
          <p:cNvPr id="379" name="Google Shape;379;p44"/>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380" name="Google Shape;380;p44"/>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pic>
        <p:nvPicPr>
          <p:cNvPr id="385" name="Google Shape;385;p45" title="Captura de pantalla 2025-04-23 170642.png"/>
          <p:cNvPicPr preferRelativeResize="0"/>
          <p:nvPr/>
        </p:nvPicPr>
        <p:blipFill>
          <a:blip r:embed="rId3">
            <a:alphaModFix/>
          </a:blip>
          <a:stretch>
            <a:fillRect/>
          </a:stretch>
        </p:blipFill>
        <p:spPr>
          <a:xfrm rot="-5400000">
            <a:off x="5360587" y="1647212"/>
            <a:ext cx="3577126" cy="2730500"/>
          </a:xfrm>
          <a:prstGeom prst="rect">
            <a:avLst/>
          </a:prstGeom>
          <a:noFill/>
          <a:ln>
            <a:noFill/>
          </a:ln>
        </p:spPr>
      </p:pic>
      <p:pic>
        <p:nvPicPr>
          <p:cNvPr id="386" name="Google Shape;386;p45" title="Captura de pantalla 2025-04-21 162817.png"/>
          <p:cNvPicPr preferRelativeResize="0"/>
          <p:nvPr/>
        </p:nvPicPr>
        <p:blipFill rotWithShape="1">
          <a:blip r:embed="rId4">
            <a:alphaModFix/>
          </a:blip>
          <a:srcRect b="-10144" l="-2268" r="22960" t="30835"/>
          <a:stretch/>
        </p:blipFill>
        <p:spPr>
          <a:xfrm>
            <a:off x="47275" y="1098525"/>
            <a:ext cx="3542902" cy="2126475"/>
          </a:xfrm>
          <a:prstGeom prst="rect">
            <a:avLst/>
          </a:prstGeom>
          <a:noFill/>
          <a:ln>
            <a:noFill/>
          </a:ln>
        </p:spPr>
      </p:pic>
      <p:sp>
        <p:nvSpPr>
          <p:cNvPr id="387" name="Google Shape;387;p45"/>
          <p:cNvSpPr txBox="1"/>
          <p:nvPr>
            <p:ph type="title"/>
          </p:nvPr>
        </p:nvSpPr>
        <p:spPr>
          <a:xfrm>
            <a:off x="82025" y="465300"/>
            <a:ext cx="4850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sz="2356">
                <a:latin typeface="Calibri"/>
                <a:ea typeface="Calibri"/>
                <a:cs typeface="Calibri"/>
                <a:sym typeface="Calibri"/>
              </a:rPr>
              <a:t>Survey </a:t>
            </a:r>
            <a:r>
              <a:rPr lang="es-419" sz="2356">
                <a:latin typeface="Calibri"/>
                <a:ea typeface="Calibri"/>
                <a:cs typeface="Calibri"/>
                <a:sym typeface="Calibri"/>
              </a:rPr>
              <a:t>Planning → </a:t>
            </a:r>
            <a:r>
              <a:rPr lang="es-419" sz="1800">
                <a:latin typeface="Calibri"/>
                <a:ea typeface="Calibri"/>
                <a:cs typeface="Calibri"/>
                <a:sym typeface="Calibri"/>
              </a:rPr>
              <a:t>What are we planning to find?</a:t>
            </a:r>
            <a:endParaRPr sz="1800">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
        <p:nvSpPr>
          <p:cNvPr id="388" name="Google Shape;388;p45"/>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389" name="Google Shape;389;p45"/>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sp>
        <p:nvSpPr>
          <p:cNvPr id="390" name="Google Shape;390;p45"/>
          <p:cNvSpPr/>
          <p:nvPr/>
        </p:nvSpPr>
        <p:spPr>
          <a:xfrm>
            <a:off x="737675" y="1360525"/>
            <a:ext cx="1148400" cy="1060500"/>
          </a:xfrm>
          <a:prstGeom prst="ellipse">
            <a:avLst/>
          </a:prstGeom>
          <a:noFill/>
          <a:ln cap="flat" cmpd="sng" w="2857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1" name="Google Shape;391;p45"/>
          <p:cNvSpPr txBox="1"/>
          <p:nvPr/>
        </p:nvSpPr>
        <p:spPr>
          <a:xfrm>
            <a:off x="5702825" y="411850"/>
            <a:ext cx="3229200" cy="71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a:solidFill>
                  <a:schemeClr val="dk1"/>
                </a:solidFill>
                <a:latin typeface="Calibri"/>
                <a:ea typeface="Calibri"/>
                <a:cs typeface="Calibri"/>
                <a:sym typeface="Calibri"/>
              </a:rPr>
              <a:t>Utility plan: location of cables, pipes, and similar infrastructure both below and above the ground.</a:t>
            </a:r>
            <a:endParaRPr>
              <a:solidFill>
                <a:schemeClr val="dk1"/>
              </a:solidFill>
              <a:latin typeface="Calibri"/>
              <a:ea typeface="Calibri"/>
              <a:cs typeface="Calibri"/>
              <a:sym typeface="Calibri"/>
            </a:endParaRPr>
          </a:p>
        </p:txBody>
      </p:sp>
      <p:cxnSp>
        <p:nvCxnSpPr>
          <p:cNvPr id="392" name="Google Shape;392;p45"/>
          <p:cNvCxnSpPr>
            <a:stCxn id="390" idx="6"/>
          </p:cNvCxnSpPr>
          <p:nvPr/>
        </p:nvCxnSpPr>
        <p:spPr>
          <a:xfrm>
            <a:off x="1886075" y="1890775"/>
            <a:ext cx="4235700" cy="1320600"/>
          </a:xfrm>
          <a:prstGeom prst="straightConnector1">
            <a:avLst/>
          </a:prstGeom>
          <a:noFill/>
          <a:ln cap="flat" cmpd="sng" w="28575">
            <a:solidFill>
              <a:srgbClr val="FFFF00"/>
            </a:solidFill>
            <a:prstDash val="solid"/>
            <a:round/>
            <a:headEnd len="med" w="med" type="none"/>
            <a:tailEnd len="med" w="med" type="triangle"/>
          </a:ln>
        </p:spPr>
      </p:cxnSp>
      <p:sp>
        <p:nvSpPr>
          <p:cNvPr id="393" name="Google Shape;393;p45"/>
          <p:cNvSpPr txBox="1"/>
          <p:nvPr/>
        </p:nvSpPr>
        <p:spPr>
          <a:xfrm>
            <a:off x="239475" y="3285525"/>
            <a:ext cx="4936500" cy="126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Let's</a:t>
            </a:r>
            <a:r>
              <a:rPr lang="es-419" sz="1500">
                <a:solidFill>
                  <a:schemeClr val="dk1"/>
                </a:solidFill>
                <a:latin typeface="Calibri"/>
                <a:ea typeface="Calibri"/>
                <a:cs typeface="Calibri"/>
                <a:sym typeface="Calibri"/>
              </a:rPr>
              <a:t> check in we are able to locate utilities like: Storm sewer, Sewer pipe, Power line, Flex line </a:t>
            </a:r>
            <a:r>
              <a:rPr lang="es-419" sz="1500">
                <a:solidFill>
                  <a:srgbClr val="1155CC"/>
                </a:solidFill>
                <a:latin typeface="Calibri"/>
                <a:ea typeface="Calibri"/>
                <a:cs typeface="Calibri"/>
                <a:sym typeface="Calibri"/>
              </a:rPr>
              <a:t>and the differences</a:t>
            </a:r>
            <a:r>
              <a:rPr lang="es-419" sz="1500">
                <a:solidFill>
                  <a:schemeClr val="dk1"/>
                </a:solidFill>
                <a:latin typeface="Calibri"/>
                <a:ea typeface="Calibri"/>
                <a:cs typeface="Calibri"/>
                <a:sym typeface="Calibri"/>
              </a:rPr>
              <a:t> they show in a radargram</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s-419" sz="2020">
                <a:latin typeface="Calibri"/>
                <a:ea typeface="Calibri"/>
                <a:cs typeface="Calibri"/>
                <a:sym typeface="Calibri"/>
              </a:rPr>
              <a:t>Acquisition software: important parameter setting</a:t>
            </a:r>
            <a:endParaRPr sz="2020">
              <a:latin typeface="Calibri"/>
              <a:ea typeface="Calibri"/>
              <a:cs typeface="Calibri"/>
              <a:sym typeface="Calibri"/>
            </a:endParaRPr>
          </a:p>
        </p:txBody>
      </p:sp>
      <p:sp>
        <p:nvSpPr>
          <p:cNvPr id="399" name="Google Shape;399;p46"/>
          <p:cNvSpPr txBox="1"/>
          <p:nvPr>
            <p:ph idx="1" type="body"/>
          </p:nvPr>
        </p:nvSpPr>
        <p:spPr>
          <a:xfrm>
            <a:off x="311700" y="1152475"/>
            <a:ext cx="4260300" cy="34164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100">
              <a:solidFill>
                <a:schemeClr val="dk1"/>
              </a:solidFill>
              <a:latin typeface="Calibri"/>
              <a:ea typeface="Calibri"/>
              <a:cs typeface="Calibri"/>
              <a:sym typeface="Calibri"/>
            </a:endParaRPr>
          </a:p>
          <a:p>
            <a:pPr indent="0" lvl="0" marL="457200" rtl="0" algn="l">
              <a:spcBef>
                <a:spcPts val="1200"/>
              </a:spcBef>
              <a:spcAft>
                <a:spcPts val="0"/>
              </a:spcAft>
              <a:buNone/>
            </a:pPr>
            <a:r>
              <a:t/>
            </a:r>
            <a:endParaRPr b="1"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457200" rtl="0" algn="l">
              <a:spcBef>
                <a:spcPts val="1200"/>
              </a:spcBef>
              <a:spcAft>
                <a:spcPts val="0"/>
              </a:spcAft>
              <a:buNone/>
            </a:pPr>
            <a:r>
              <a:rPr lang="es-419"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highlight>
                <a:schemeClr val="lt1"/>
              </a:highlight>
              <a:latin typeface="Calibri"/>
              <a:ea typeface="Calibri"/>
              <a:cs typeface="Calibri"/>
              <a:sym typeface="Calibri"/>
            </a:endParaRPr>
          </a:p>
          <a:p>
            <a:pPr indent="0" lvl="0" marL="457200" rtl="0" algn="l">
              <a:spcBef>
                <a:spcPts val="1200"/>
              </a:spcBef>
              <a:spcAft>
                <a:spcPts val="1200"/>
              </a:spcAft>
              <a:buNone/>
            </a:pPr>
            <a:r>
              <a:t/>
            </a:r>
            <a:endParaRPr sz="800">
              <a:solidFill>
                <a:schemeClr val="dk1"/>
              </a:solidFill>
              <a:latin typeface="Calibri"/>
              <a:ea typeface="Calibri"/>
              <a:cs typeface="Calibri"/>
              <a:sym typeface="Calibri"/>
            </a:endParaRPr>
          </a:p>
        </p:txBody>
      </p:sp>
      <p:sp>
        <p:nvSpPr>
          <p:cNvPr id="400" name="Google Shape;400;p46"/>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401" name="Google Shape;401;p46"/>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pic>
        <p:nvPicPr>
          <p:cNvPr id="402" name="Google Shape;402;p46"/>
          <p:cNvPicPr preferRelativeResize="0"/>
          <p:nvPr/>
        </p:nvPicPr>
        <p:blipFill>
          <a:blip r:embed="rId3">
            <a:alphaModFix/>
          </a:blip>
          <a:stretch>
            <a:fillRect/>
          </a:stretch>
        </p:blipFill>
        <p:spPr>
          <a:xfrm>
            <a:off x="352225" y="1336725"/>
            <a:ext cx="3039803" cy="3047900"/>
          </a:xfrm>
          <a:prstGeom prst="rect">
            <a:avLst/>
          </a:prstGeom>
          <a:noFill/>
          <a:ln>
            <a:noFill/>
          </a:ln>
        </p:spPr>
      </p:pic>
      <p:sp>
        <p:nvSpPr>
          <p:cNvPr id="403" name="Google Shape;403;p46"/>
          <p:cNvSpPr/>
          <p:nvPr/>
        </p:nvSpPr>
        <p:spPr>
          <a:xfrm>
            <a:off x="1863300" y="2777000"/>
            <a:ext cx="624000" cy="310200"/>
          </a:xfrm>
          <a:prstGeom prst="ellipse">
            <a:avLst/>
          </a:prstGeom>
          <a:noFill/>
          <a:ln cap="flat" cmpd="sng" w="19050">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p>
        </p:txBody>
      </p:sp>
      <p:sp>
        <p:nvSpPr>
          <p:cNvPr id="404" name="Google Shape;404;p46"/>
          <p:cNvSpPr txBox="1"/>
          <p:nvPr/>
        </p:nvSpPr>
        <p:spPr>
          <a:xfrm>
            <a:off x="4372050" y="3832975"/>
            <a:ext cx="2938500" cy="35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2"/>
              </a:solidFill>
              <a:latin typeface="Calibri"/>
              <a:ea typeface="Calibri"/>
              <a:cs typeface="Calibri"/>
              <a:sym typeface="Calibri"/>
            </a:endParaRPr>
          </a:p>
        </p:txBody>
      </p:sp>
      <p:pic>
        <p:nvPicPr>
          <p:cNvPr id="405" name="Google Shape;405;p46" title="Captura desde 2025-04-24 07-50-44.png"/>
          <p:cNvPicPr preferRelativeResize="0"/>
          <p:nvPr/>
        </p:nvPicPr>
        <p:blipFill>
          <a:blip r:embed="rId4">
            <a:alphaModFix/>
          </a:blip>
          <a:stretch>
            <a:fillRect/>
          </a:stretch>
        </p:blipFill>
        <p:spPr>
          <a:xfrm>
            <a:off x="4132849" y="1152550"/>
            <a:ext cx="3553125" cy="742600"/>
          </a:xfrm>
          <a:prstGeom prst="rect">
            <a:avLst/>
          </a:prstGeom>
          <a:noFill/>
          <a:ln>
            <a:noFill/>
          </a:ln>
        </p:spPr>
      </p:pic>
      <p:cxnSp>
        <p:nvCxnSpPr>
          <p:cNvPr id="406" name="Google Shape;406;p46"/>
          <p:cNvCxnSpPr>
            <a:stCxn id="403" idx="7"/>
            <a:endCxn id="405" idx="1"/>
          </p:cNvCxnSpPr>
          <p:nvPr/>
        </p:nvCxnSpPr>
        <p:spPr>
          <a:xfrm flipH="1" rot="10800000">
            <a:off x="2395917" y="1523728"/>
            <a:ext cx="1737000" cy="1298700"/>
          </a:xfrm>
          <a:prstGeom prst="straightConnector1">
            <a:avLst/>
          </a:prstGeom>
          <a:noFill/>
          <a:ln cap="flat" cmpd="sng" w="9525">
            <a:solidFill>
              <a:srgbClr val="6AA84F"/>
            </a:solidFill>
            <a:prstDash val="solid"/>
            <a:round/>
            <a:headEnd len="med" w="med" type="none"/>
            <a:tailEnd len="med" w="med" type="triangl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4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s-419" sz="2020">
                <a:latin typeface="Calibri"/>
                <a:ea typeface="Calibri"/>
                <a:cs typeface="Calibri"/>
                <a:sym typeface="Calibri"/>
              </a:rPr>
              <a:t>Acquisition software: important parameter setting</a:t>
            </a:r>
            <a:endParaRPr sz="2020">
              <a:latin typeface="Calibri"/>
              <a:ea typeface="Calibri"/>
              <a:cs typeface="Calibri"/>
              <a:sym typeface="Calibri"/>
            </a:endParaRPr>
          </a:p>
        </p:txBody>
      </p:sp>
      <p:sp>
        <p:nvSpPr>
          <p:cNvPr id="412" name="Google Shape;412;p47"/>
          <p:cNvSpPr txBox="1"/>
          <p:nvPr>
            <p:ph idx="1" type="body"/>
          </p:nvPr>
        </p:nvSpPr>
        <p:spPr>
          <a:xfrm>
            <a:off x="311700" y="1152475"/>
            <a:ext cx="4260300" cy="34164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100">
              <a:solidFill>
                <a:schemeClr val="dk1"/>
              </a:solidFill>
              <a:latin typeface="Calibri"/>
              <a:ea typeface="Calibri"/>
              <a:cs typeface="Calibri"/>
              <a:sym typeface="Calibri"/>
            </a:endParaRPr>
          </a:p>
          <a:p>
            <a:pPr indent="0" lvl="0" marL="457200" rtl="0" algn="l">
              <a:spcBef>
                <a:spcPts val="1200"/>
              </a:spcBef>
              <a:spcAft>
                <a:spcPts val="0"/>
              </a:spcAft>
              <a:buNone/>
            </a:pPr>
            <a:r>
              <a:t/>
            </a:r>
            <a:endParaRPr b="1"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457200" rtl="0" algn="l">
              <a:spcBef>
                <a:spcPts val="1200"/>
              </a:spcBef>
              <a:spcAft>
                <a:spcPts val="0"/>
              </a:spcAft>
              <a:buNone/>
            </a:pPr>
            <a:r>
              <a:rPr lang="es-419"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highlight>
                <a:schemeClr val="lt1"/>
              </a:highlight>
              <a:latin typeface="Calibri"/>
              <a:ea typeface="Calibri"/>
              <a:cs typeface="Calibri"/>
              <a:sym typeface="Calibri"/>
            </a:endParaRPr>
          </a:p>
          <a:p>
            <a:pPr indent="0" lvl="0" marL="457200" rtl="0" algn="l">
              <a:spcBef>
                <a:spcPts val="1200"/>
              </a:spcBef>
              <a:spcAft>
                <a:spcPts val="1200"/>
              </a:spcAft>
              <a:buNone/>
            </a:pPr>
            <a:r>
              <a:t/>
            </a:r>
            <a:endParaRPr sz="800">
              <a:solidFill>
                <a:schemeClr val="dk1"/>
              </a:solidFill>
              <a:latin typeface="Calibri"/>
              <a:ea typeface="Calibri"/>
              <a:cs typeface="Calibri"/>
              <a:sym typeface="Calibri"/>
            </a:endParaRPr>
          </a:p>
        </p:txBody>
      </p:sp>
      <p:sp>
        <p:nvSpPr>
          <p:cNvPr id="413" name="Google Shape;413;p47"/>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414" name="Google Shape;414;p47"/>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pic>
        <p:nvPicPr>
          <p:cNvPr id="415" name="Google Shape;415;p47"/>
          <p:cNvPicPr preferRelativeResize="0"/>
          <p:nvPr/>
        </p:nvPicPr>
        <p:blipFill>
          <a:blip r:embed="rId3">
            <a:alphaModFix/>
          </a:blip>
          <a:stretch>
            <a:fillRect/>
          </a:stretch>
        </p:blipFill>
        <p:spPr>
          <a:xfrm>
            <a:off x="352225" y="1336725"/>
            <a:ext cx="3039803" cy="3047900"/>
          </a:xfrm>
          <a:prstGeom prst="rect">
            <a:avLst/>
          </a:prstGeom>
          <a:noFill/>
          <a:ln>
            <a:noFill/>
          </a:ln>
        </p:spPr>
      </p:pic>
      <p:sp>
        <p:nvSpPr>
          <p:cNvPr id="416" name="Google Shape;416;p47"/>
          <p:cNvSpPr/>
          <p:nvPr/>
        </p:nvSpPr>
        <p:spPr>
          <a:xfrm>
            <a:off x="1822775" y="3000475"/>
            <a:ext cx="563100" cy="230700"/>
          </a:xfrm>
          <a:prstGeom prst="ellipse">
            <a:avLst/>
          </a:prstGeom>
          <a:noFill/>
          <a:ln cap="flat" cmpd="sng" w="19050">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p>
        </p:txBody>
      </p:sp>
      <p:sp>
        <p:nvSpPr>
          <p:cNvPr id="417" name="Google Shape;417;p47"/>
          <p:cNvSpPr txBox="1"/>
          <p:nvPr/>
        </p:nvSpPr>
        <p:spPr>
          <a:xfrm>
            <a:off x="4372050" y="3832975"/>
            <a:ext cx="2938500" cy="35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2"/>
              </a:solidFill>
              <a:latin typeface="Calibri"/>
              <a:ea typeface="Calibri"/>
              <a:cs typeface="Calibri"/>
              <a:sym typeface="Calibri"/>
            </a:endParaRPr>
          </a:p>
        </p:txBody>
      </p:sp>
      <p:pic>
        <p:nvPicPr>
          <p:cNvPr id="418" name="Google Shape;418;p47" title="Captura desde 2025-04-24 08-03-52.png"/>
          <p:cNvPicPr preferRelativeResize="0"/>
          <p:nvPr/>
        </p:nvPicPr>
        <p:blipFill>
          <a:blip r:embed="rId4">
            <a:alphaModFix/>
          </a:blip>
          <a:stretch>
            <a:fillRect/>
          </a:stretch>
        </p:blipFill>
        <p:spPr>
          <a:xfrm>
            <a:off x="3953145" y="2143020"/>
            <a:ext cx="5067825" cy="857450"/>
          </a:xfrm>
          <a:prstGeom prst="rect">
            <a:avLst/>
          </a:prstGeom>
          <a:noFill/>
          <a:ln>
            <a:noFill/>
          </a:ln>
        </p:spPr>
      </p:pic>
      <p:cxnSp>
        <p:nvCxnSpPr>
          <p:cNvPr id="419" name="Google Shape;419;p47"/>
          <p:cNvCxnSpPr>
            <a:stCxn id="416" idx="6"/>
          </p:cNvCxnSpPr>
          <p:nvPr/>
        </p:nvCxnSpPr>
        <p:spPr>
          <a:xfrm flipH="1" rot="10800000">
            <a:off x="2385875" y="2494525"/>
            <a:ext cx="1437300" cy="621300"/>
          </a:xfrm>
          <a:prstGeom prst="straightConnector1">
            <a:avLst/>
          </a:prstGeom>
          <a:noFill/>
          <a:ln cap="flat" cmpd="sng" w="9525">
            <a:solidFill>
              <a:srgbClr val="6AA84F"/>
            </a:solidFill>
            <a:prstDash val="solid"/>
            <a:round/>
            <a:headEnd len="med" w="med" type="none"/>
            <a:tailEnd len="med" w="med" type="triangl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4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s-419" sz="2020">
                <a:latin typeface="Calibri"/>
                <a:ea typeface="Calibri"/>
                <a:cs typeface="Calibri"/>
                <a:sym typeface="Calibri"/>
              </a:rPr>
              <a:t>Acquisition software: important parameter setting</a:t>
            </a:r>
            <a:endParaRPr sz="2020">
              <a:latin typeface="Calibri"/>
              <a:ea typeface="Calibri"/>
              <a:cs typeface="Calibri"/>
              <a:sym typeface="Calibri"/>
            </a:endParaRPr>
          </a:p>
        </p:txBody>
      </p:sp>
      <p:sp>
        <p:nvSpPr>
          <p:cNvPr id="425" name="Google Shape;425;p48"/>
          <p:cNvSpPr txBox="1"/>
          <p:nvPr>
            <p:ph idx="1" type="body"/>
          </p:nvPr>
        </p:nvSpPr>
        <p:spPr>
          <a:xfrm>
            <a:off x="311700" y="1152475"/>
            <a:ext cx="4260300" cy="34164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100">
              <a:solidFill>
                <a:schemeClr val="dk1"/>
              </a:solidFill>
              <a:latin typeface="Calibri"/>
              <a:ea typeface="Calibri"/>
              <a:cs typeface="Calibri"/>
              <a:sym typeface="Calibri"/>
            </a:endParaRPr>
          </a:p>
          <a:p>
            <a:pPr indent="0" lvl="0" marL="457200" rtl="0" algn="l">
              <a:spcBef>
                <a:spcPts val="1200"/>
              </a:spcBef>
              <a:spcAft>
                <a:spcPts val="0"/>
              </a:spcAft>
              <a:buNone/>
            </a:pPr>
            <a:r>
              <a:t/>
            </a:r>
            <a:endParaRPr b="1"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457200" rtl="0" algn="l">
              <a:spcBef>
                <a:spcPts val="1200"/>
              </a:spcBef>
              <a:spcAft>
                <a:spcPts val="0"/>
              </a:spcAft>
              <a:buNone/>
            </a:pPr>
            <a:r>
              <a:rPr lang="es-419"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highlight>
                <a:schemeClr val="lt1"/>
              </a:highlight>
              <a:latin typeface="Calibri"/>
              <a:ea typeface="Calibri"/>
              <a:cs typeface="Calibri"/>
              <a:sym typeface="Calibri"/>
            </a:endParaRPr>
          </a:p>
          <a:p>
            <a:pPr indent="0" lvl="0" marL="457200" rtl="0" algn="l">
              <a:spcBef>
                <a:spcPts val="1200"/>
              </a:spcBef>
              <a:spcAft>
                <a:spcPts val="1200"/>
              </a:spcAft>
              <a:buNone/>
            </a:pPr>
            <a:r>
              <a:t/>
            </a:r>
            <a:endParaRPr sz="800">
              <a:solidFill>
                <a:schemeClr val="dk1"/>
              </a:solidFill>
              <a:latin typeface="Calibri"/>
              <a:ea typeface="Calibri"/>
              <a:cs typeface="Calibri"/>
              <a:sym typeface="Calibri"/>
            </a:endParaRPr>
          </a:p>
        </p:txBody>
      </p:sp>
      <p:sp>
        <p:nvSpPr>
          <p:cNvPr id="426" name="Google Shape;426;p48"/>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427" name="Google Shape;427;p48"/>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pic>
        <p:nvPicPr>
          <p:cNvPr id="428" name="Google Shape;428;p48"/>
          <p:cNvPicPr preferRelativeResize="0"/>
          <p:nvPr/>
        </p:nvPicPr>
        <p:blipFill>
          <a:blip r:embed="rId3">
            <a:alphaModFix/>
          </a:blip>
          <a:stretch>
            <a:fillRect/>
          </a:stretch>
        </p:blipFill>
        <p:spPr>
          <a:xfrm>
            <a:off x="352225" y="1336725"/>
            <a:ext cx="3039803" cy="3047900"/>
          </a:xfrm>
          <a:prstGeom prst="rect">
            <a:avLst/>
          </a:prstGeom>
          <a:noFill/>
          <a:ln>
            <a:noFill/>
          </a:ln>
        </p:spPr>
      </p:pic>
      <p:sp>
        <p:nvSpPr>
          <p:cNvPr id="429" name="Google Shape;429;p48"/>
          <p:cNvSpPr/>
          <p:nvPr/>
        </p:nvSpPr>
        <p:spPr>
          <a:xfrm>
            <a:off x="1829500" y="3143950"/>
            <a:ext cx="556500" cy="310200"/>
          </a:xfrm>
          <a:prstGeom prst="ellipse">
            <a:avLst/>
          </a:prstGeom>
          <a:noFill/>
          <a:ln cap="flat" cmpd="sng" w="19050">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900"/>
          </a:p>
        </p:txBody>
      </p:sp>
      <p:sp>
        <p:nvSpPr>
          <p:cNvPr id="430" name="Google Shape;430;p48"/>
          <p:cNvSpPr txBox="1"/>
          <p:nvPr/>
        </p:nvSpPr>
        <p:spPr>
          <a:xfrm>
            <a:off x="4831425" y="3691100"/>
            <a:ext cx="1202400" cy="35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000">
                <a:solidFill>
                  <a:schemeClr val="dk1"/>
                </a:solidFill>
                <a:latin typeface="Calibri"/>
                <a:ea typeface="Calibri"/>
                <a:cs typeface="Calibri"/>
                <a:sym typeface="Calibri"/>
              </a:rPr>
              <a:t>Lateral resolution</a:t>
            </a:r>
            <a:endParaRPr sz="1000">
              <a:solidFill>
                <a:schemeClr val="dk1"/>
              </a:solidFill>
              <a:latin typeface="Calibri"/>
              <a:ea typeface="Calibri"/>
              <a:cs typeface="Calibri"/>
              <a:sym typeface="Calibri"/>
            </a:endParaRPr>
          </a:p>
        </p:txBody>
      </p:sp>
      <p:cxnSp>
        <p:nvCxnSpPr>
          <p:cNvPr id="431" name="Google Shape;431;p48"/>
          <p:cNvCxnSpPr>
            <a:stCxn id="429" idx="5"/>
          </p:cNvCxnSpPr>
          <p:nvPr/>
        </p:nvCxnSpPr>
        <p:spPr>
          <a:xfrm>
            <a:off x="2304502" y="3408722"/>
            <a:ext cx="2234100" cy="389100"/>
          </a:xfrm>
          <a:prstGeom prst="straightConnector1">
            <a:avLst/>
          </a:prstGeom>
          <a:noFill/>
          <a:ln cap="flat" cmpd="sng" w="9525">
            <a:solidFill>
              <a:srgbClr val="6AA84F"/>
            </a:solidFill>
            <a:prstDash val="solid"/>
            <a:round/>
            <a:headEnd len="med" w="med" type="none"/>
            <a:tailEnd len="med" w="med" type="triangle"/>
          </a:ln>
        </p:spPr>
      </p:cxn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4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s-419" sz="2020">
                <a:latin typeface="Calibri"/>
                <a:ea typeface="Calibri"/>
                <a:cs typeface="Calibri"/>
                <a:sym typeface="Calibri"/>
              </a:rPr>
              <a:t>Careful! Electromagnetic noise</a:t>
            </a:r>
            <a:endParaRPr sz="2020">
              <a:latin typeface="Calibri"/>
              <a:ea typeface="Calibri"/>
              <a:cs typeface="Calibri"/>
              <a:sym typeface="Calibri"/>
            </a:endParaRPr>
          </a:p>
        </p:txBody>
      </p:sp>
      <p:sp>
        <p:nvSpPr>
          <p:cNvPr id="437" name="Google Shape;437;p49"/>
          <p:cNvSpPr txBox="1"/>
          <p:nvPr>
            <p:ph idx="1" type="body"/>
          </p:nvPr>
        </p:nvSpPr>
        <p:spPr>
          <a:xfrm>
            <a:off x="311700" y="1152475"/>
            <a:ext cx="4260300" cy="34164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100">
              <a:solidFill>
                <a:schemeClr val="dk1"/>
              </a:solidFill>
              <a:latin typeface="Calibri"/>
              <a:ea typeface="Calibri"/>
              <a:cs typeface="Calibri"/>
              <a:sym typeface="Calibri"/>
            </a:endParaRPr>
          </a:p>
          <a:p>
            <a:pPr indent="0" lvl="0" marL="457200" rtl="0" algn="l">
              <a:spcBef>
                <a:spcPts val="1200"/>
              </a:spcBef>
              <a:spcAft>
                <a:spcPts val="0"/>
              </a:spcAft>
              <a:buNone/>
            </a:pPr>
            <a:r>
              <a:t/>
            </a:r>
            <a:endParaRPr b="1"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latin typeface="Calibri"/>
              <a:ea typeface="Calibri"/>
              <a:cs typeface="Calibri"/>
              <a:sym typeface="Calibri"/>
            </a:endParaRPr>
          </a:p>
          <a:p>
            <a:pPr indent="0" lvl="0" marL="457200" rtl="0" algn="l">
              <a:spcBef>
                <a:spcPts val="1200"/>
              </a:spcBef>
              <a:spcAft>
                <a:spcPts val="0"/>
              </a:spcAft>
              <a:buNone/>
            </a:pPr>
            <a:r>
              <a:rPr lang="es-419"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100">
              <a:solidFill>
                <a:schemeClr val="dk1"/>
              </a:solidFill>
              <a:highlight>
                <a:schemeClr val="lt1"/>
              </a:highlight>
              <a:latin typeface="Calibri"/>
              <a:ea typeface="Calibri"/>
              <a:cs typeface="Calibri"/>
              <a:sym typeface="Calibri"/>
            </a:endParaRPr>
          </a:p>
          <a:p>
            <a:pPr indent="0" lvl="0" marL="457200" rtl="0" algn="l">
              <a:spcBef>
                <a:spcPts val="1200"/>
              </a:spcBef>
              <a:spcAft>
                <a:spcPts val="1200"/>
              </a:spcAft>
              <a:buNone/>
            </a:pPr>
            <a:r>
              <a:t/>
            </a:r>
            <a:endParaRPr sz="800">
              <a:solidFill>
                <a:schemeClr val="dk1"/>
              </a:solidFill>
              <a:latin typeface="Calibri"/>
              <a:ea typeface="Calibri"/>
              <a:cs typeface="Calibri"/>
              <a:sym typeface="Calibri"/>
            </a:endParaRPr>
          </a:p>
        </p:txBody>
      </p:sp>
      <p:sp>
        <p:nvSpPr>
          <p:cNvPr id="438" name="Google Shape;438;p49"/>
          <p:cNvSpPr txBox="1"/>
          <p:nvPr/>
        </p:nvSpPr>
        <p:spPr>
          <a:xfrm>
            <a:off x="-6575" y="4938900"/>
            <a:ext cx="9144000" cy="205200"/>
          </a:xfrm>
          <a:prstGeom prst="rect">
            <a:avLst/>
          </a:prstGeom>
          <a:solidFill>
            <a:srgbClr val="EEECE1"/>
          </a:solidFill>
          <a:ln>
            <a:noFill/>
          </a:ln>
        </p:spPr>
        <p:txBody>
          <a:bodyPr anchorCtr="0" anchor="ctr" bIns="45700" lIns="91425" spcFirstLastPara="1" rIns="91425" wrap="square" tIns="45700">
            <a:noAutofit/>
          </a:bodyPr>
          <a:lstStyle/>
          <a:p>
            <a:pPr indent="0" lvl="0" marL="0" rtl="0" algn="r">
              <a:spcBef>
                <a:spcPts val="0"/>
              </a:spcBef>
              <a:spcAft>
                <a:spcPts val="0"/>
              </a:spcAft>
              <a:buClr>
                <a:schemeClr val="dk1"/>
              </a:buClr>
              <a:buFont typeface="Arial"/>
              <a:buNone/>
            </a:pPr>
            <a:r>
              <a:rPr lang="es-419" sz="1000">
                <a:solidFill>
                  <a:schemeClr val="dk1"/>
                </a:solidFill>
                <a:latin typeface="Calibri"/>
                <a:ea typeface="Calibri"/>
                <a:cs typeface="Calibri"/>
                <a:sym typeface="Calibri"/>
              </a:rPr>
              <a:t>Advanced Geophysical Methods in Natural Resource Investigation</a:t>
            </a:r>
            <a:endParaRPr sz="1000">
              <a:solidFill>
                <a:schemeClr val="dk1"/>
              </a:solidFill>
              <a:latin typeface="Calibri"/>
              <a:ea typeface="Calibri"/>
              <a:cs typeface="Calibri"/>
              <a:sym typeface="Calibri"/>
            </a:endParaRPr>
          </a:p>
        </p:txBody>
      </p:sp>
      <p:sp>
        <p:nvSpPr>
          <p:cNvPr id="439" name="Google Shape;439;p49"/>
          <p:cNvSpPr txBox="1"/>
          <p:nvPr/>
        </p:nvSpPr>
        <p:spPr>
          <a:xfrm>
            <a:off x="0" y="-2"/>
            <a:ext cx="9144000" cy="310200"/>
          </a:xfrm>
          <a:prstGeom prst="rect">
            <a:avLst/>
          </a:prstGeom>
          <a:solidFill>
            <a:srgbClr val="CFE2F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419" sz="1500">
                <a:solidFill>
                  <a:schemeClr val="dk1"/>
                </a:solidFill>
                <a:latin typeface="Calibri"/>
                <a:ea typeface="Calibri"/>
                <a:cs typeface="Calibri"/>
                <a:sym typeface="Calibri"/>
              </a:rPr>
              <a:t>A brief explanation before going to the field</a:t>
            </a:r>
            <a:endParaRPr sz="1500">
              <a:solidFill>
                <a:schemeClr val="dk1"/>
              </a:solidFill>
              <a:latin typeface="Calibri"/>
              <a:ea typeface="Calibri"/>
              <a:cs typeface="Calibri"/>
              <a:sym typeface="Calibri"/>
            </a:endParaRPr>
          </a:p>
        </p:txBody>
      </p:sp>
      <p:pic>
        <p:nvPicPr>
          <p:cNvPr id="440" name="Google Shape;440;p49" title="Captura desde 2025-04-24 11-21-04.png"/>
          <p:cNvPicPr preferRelativeResize="0"/>
          <p:nvPr/>
        </p:nvPicPr>
        <p:blipFill>
          <a:blip r:embed="rId3">
            <a:alphaModFix/>
          </a:blip>
          <a:stretch>
            <a:fillRect/>
          </a:stretch>
        </p:blipFill>
        <p:spPr>
          <a:xfrm>
            <a:off x="4680525" y="1766347"/>
            <a:ext cx="4260300" cy="2062652"/>
          </a:xfrm>
          <a:prstGeom prst="rect">
            <a:avLst/>
          </a:prstGeom>
          <a:noFill/>
          <a:ln>
            <a:noFill/>
          </a:ln>
        </p:spPr>
      </p:pic>
      <p:pic>
        <p:nvPicPr>
          <p:cNvPr id="441" name="Google Shape;441;p49" title="Captura desde 2025-04-24 11-20-44.png"/>
          <p:cNvPicPr preferRelativeResize="0"/>
          <p:nvPr/>
        </p:nvPicPr>
        <p:blipFill>
          <a:blip r:embed="rId4">
            <a:alphaModFix/>
          </a:blip>
          <a:stretch>
            <a:fillRect/>
          </a:stretch>
        </p:blipFill>
        <p:spPr>
          <a:xfrm>
            <a:off x="134575" y="1237175"/>
            <a:ext cx="4545954" cy="27849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